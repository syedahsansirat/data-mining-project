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57" r:id="rId3"/>
    <p:sldId id="258" r:id="rId4"/>
    <p:sldId id="259" r:id="rId5"/>
    <p:sldId id="279" r:id="rId6"/>
    <p:sldId id="281" r:id="rId7"/>
    <p:sldId id="280" r:id="rId8"/>
    <p:sldId id="282" r:id="rId9"/>
    <p:sldId id="283" r:id="rId10"/>
    <p:sldId id="284" r:id="rId11"/>
    <p:sldId id="262" r:id="rId12"/>
    <p:sldId id="269" r:id="rId13"/>
    <p:sldId id="268" r:id="rId14"/>
    <p:sldId id="271" r:id="rId15"/>
    <p:sldId id="272" r:id="rId16"/>
    <p:sldId id="265" r:id="rId17"/>
    <p:sldId id="264" r:id="rId18"/>
    <p:sldId id="276" r:id="rId19"/>
    <p:sldId id="270" r:id="rId20"/>
    <p:sldId id="273" r:id="rId21"/>
    <p:sldId id="274" r:id="rId22"/>
    <p:sldId id="277" r:id="rId23"/>
    <p:sldId id="278" r:id="rId24"/>
    <p:sldId id="266" r:id="rId25"/>
    <p:sldId id="260" r:id="rId26"/>
    <p:sldId id="267"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87049" autoAdjust="0"/>
  </p:normalViewPr>
  <p:slideViewPr>
    <p:cSldViewPr>
      <p:cViewPr varScale="1">
        <p:scale>
          <a:sx n="75" d="100"/>
          <a:sy n="75" d="100"/>
        </p:scale>
        <p:origin x="1690" y="72"/>
      </p:cViewPr>
      <p:guideLst>
        <p:guide orient="horz" pos="2160"/>
        <p:guide pos="2880"/>
      </p:guideLst>
    </p:cSldViewPr>
  </p:slideViewPr>
  <p:notesTextViewPr>
    <p:cViewPr>
      <p:scale>
        <a:sx n="100" d="100"/>
        <a:sy n="100" d="100"/>
      </p:scale>
      <p:origin x="0" y="0"/>
    </p:cViewPr>
  </p:notesTextViewPr>
  <p:notesViewPr>
    <p:cSldViewPr>
      <p:cViewPr varScale="1">
        <p:scale>
          <a:sx n="56" d="100"/>
          <a:sy n="56" d="100"/>
        </p:scale>
        <p:origin x="-2838"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C6FF738-7743-441D-8160-FD59067B7353}" type="datetimeFigureOut">
              <a:rPr lang="en-US" smtClean="0"/>
              <a:t>4/22/2025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993D1B-F042-42D7-9CBC-5B754DED5A5C}" type="slidenum">
              <a:rPr lang="en-US" smtClean="0"/>
              <a:t>‹#›</a:t>
            </a:fld>
            <a:endParaRPr lang="en-US"/>
          </a:p>
        </p:txBody>
      </p:sp>
    </p:spTree>
    <p:extLst>
      <p:ext uri="{BB962C8B-B14F-4D97-AF65-F5344CB8AC3E}">
        <p14:creationId xmlns:p14="http://schemas.microsoft.com/office/powerpoint/2010/main" val="3483983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a:t>
            </a:r>
            <a:r>
              <a:rPr lang="en-US" baseline="0" dirty="0"/>
              <a:t> slide</a:t>
            </a:r>
            <a:endParaRPr lang="en-US" dirty="0"/>
          </a:p>
        </p:txBody>
      </p:sp>
      <p:sp>
        <p:nvSpPr>
          <p:cNvPr id="4" name="Slide Number Placeholder 3"/>
          <p:cNvSpPr>
            <a:spLocks noGrp="1"/>
          </p:cNvSpPr>
          <p:nvPr>
            <p:ph type="sldNum" sz="quarter" idx="10"/>
          </p:nvPr>
        </p:nvSpPr>
        <p:spPr/>
        <p:txBody>
          <a:bodyPr/>
          <a:lstStyle/>
          <a:p>
            <a:fld id="{F9993D1B-F042-42D7-9CBC-5B754DED5A5C}" type="slidenum">
              <a:rPr lang="en-US" smtClean="0"/>
              <a:t>1</a:t>
            </a:fld>
            <a:endParaRPr lang="en-US"/>
          </a:p>
        </p:txBody>
      </p:sp>
    </p:spTree>
    <p:extLst>
      <p:ext uri="{BB962C8B-B14F-4D97-AF65-F5344CB8AC3E}">
        <p14:creationId xmlns:p14="http://schemas.microsoft.com/office/powerpoint/2010/main" val="9315361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First state the problem you are addressing. For example, if your project is on Churn analysis, then give a brief explanation of it. Second, write the summary of your classification results (e.g., accuracy). Note do not clutter slides, just write bullet</a:t>
            </a:r>
            <a:r>
              <a:rPr lang="en-US" sz="1200" kern="1200" baseline="0" dirty="0">
                <a:solidFill>
                  <a:schemeClr val="tx1"/>
                </a:solidFill>
                <a:effectLst/>
                <a:latin typeface="+mn-lt"/>
                <a:ea typeface="+mn-ea"/>
                <a:cs typeface="+mn-cs"/>
              </a:rPr>
              <a:t> points. If you would like to provide further explanation, write in the notes section here.</a:t>
            </a:r>
            <a:endParaRPr lang="en-US" dirty="0"/>
          </a:p>
        </p:txBody>
      </p:sp>
      <p:sp>
        <p:nvSpPr>
          <p:cNvPr id="4" name="Slide Number Placeholder 3"/>
          <p:cNvSpPr>
            <a:spLocks noGrp="1"/>
          </p:cNvSpPr>
          <p:nvPr>
            <p:ph type="sldNum" sz="quarter" idx="10"/>
          </p:nvPr>
        </p:nvSpPr>
        <p:spPr/>
        <p:txBody>
          <a:bodyPr/>
          <a:lstStyle/>
          <a:p>
            <a:fld id="{F9993D1B-F042-42D7-9CBC-5B754DED5A5C}" type="slidenum">
              <a:rPr lang="en-US" smtClean="0"/>
              <a:t>2</a:t>
            </a:fld>
            <a:endParaRPr lang="en-US"/>
          </a:p>
        </p:txBody>
      </p:sp>
    </p:spTree>
    <p:extLst>
      <p:ext uri="{BB962C8B-B14F-4D97-AF65-F5344CB8AC3E}">
        <p14:creationId xmlns:p14="http://schemas.microsoft.com/office/powerpoint/2010/main" val="3101421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993D1B-F042-42D7-9CBC-5B754DED5A5C}" type="slidenum">
              <a:rPr lang="en-US" smtClean="0"/>
              <a:t>3</a:t>
            </a:fld>
            <a:endParaRPr lang="en-US"/>
          </a:p>
        </p:txBody>
      </p:sp>
    </p:spTree>
    <p:extLst>
      <p:ext uri="{BB962C8B-B14F-4D97-AF65-F5344CB8AC3E}">
        <p14:creationId xmlns:p14="http://schemas.microsoft.com/office/powerpoint/2010/main" val="31170720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your steps of data preparation</a:t>
            </a:r>
            <a:r>
              <a:rPr lang="en-US" baseline="0" dirty="0"/>
              <a:t> that you performed during analysis of data in the order your performed them. For example, handling missing values, categorizing column or converting to numerical values, selecting feature, etc. If you want to show any figure/table feel free to insert but keep in mind that slides should be readable.</a:t>
            </a:r>
            <a:endParaRPr lang="en-US" dirty="0"/>
          </a:p>
        </p:txBody>
      </p:sp>
      <p:sp>
        <p:nvSpPr>
          <p:cNvPr id="4" name="Slide Number Placeholder 3"/>
          <p:cNvSpPr>
            <a:spLocks noGrp="1"/>
          </p:cNvSpPr>
          <p:nvPr>
            <p:ph type="sldNum" sz="quarter" idx="10"/>
          </p:nvPr>
        </p:nvSpPr>
        <p:spPr/>
        <p:txBody>
          <a:bodyPr/>
          <a:lstStyle/>
          <a:p>
            <a:fld id="{F9993D1B-F042-42D7-9CBC-5B754DED5A5C}" type="slidenum">
              <a:rPr lang="en-US" smtClean="0"/>
              <a:t>4</a:t>
            </a:fld>
            <a:endParaRPr lang="en-US"/>
          </a:p>
        </p:txBody>
      </p:sp>
    </p:spTree>
    <p:extLst>
      <p:ext uri="{BB962C8B-B14F-4D97-AF65-F5344CB8AC3E}">
        <p14:creationId xmlns:p14="http://schemas.microsoft.com/office/powerpoint/2010/main" val="20646571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evaluation method you used: cross validation or train-test set split</a:t>
            </a:r>
          </a:p>
          <a:p>
            <a:r>
              <a:rPr lang="en-US" dirty="0"/>
              <a:t>Fill</a:t>
            </a:r>
            <a:r>
              <a:rPr lang="en-US" baseline="0" dirty="0"/>
              <a:t> out the table that will summarize your results</a:t>
            </a:r>
          </a:p>
          <a:p>
            <a:r>
              <a:rPr lang="en-US" baseline="0" dirty="0"/>
              <a:t>State which model is the best in your case. Are selected-features models they better than the baseline one?</a:t>
            </a:r>
            <a:endParaRPr lang="en-US" dirty="0"/>
          </a:p>
          <a:p>
            <a:endParaRPr lang="en-US" dirty="0"/>
          </a:p>
          <a:p>
            <a:r>
              <a:rPr lang="en-US" dirty="0"/>
              <a:t> </a:t>
            </a:r>
          </a:p>
        </p:txBody>
      </p:sp>
      <p:sp>
        <p:nvSpPr>
          <p:cNvPr id="4" name="Slide Number Placeholder 3"/>
          <p:cNvSpPr>
            <a:spLocks noGrp="1"/>
          </p:cNvSpPr>
          <p:nvPr>
            <p:ph type="sldNum" sz="quarter" idx="10"/>
          </p:nvPr>
        </p:nvSpPr>
        <p:spPr/>
        <p:txBody>
          <a:bodyPr/>
          <a:lstStyle/>
          <a:p>
            <a:fld id="{F9993D1B-F042-42D7-9CBC-5B754DED5A5C}" type="slidenum">
              <a:rPr lang="en-US" smtClean="0"/>
              <a:t>11</a:t>
            </a:fld>
            <a:endParaRPr lang="en-US"/>
          </a:p>
        </p:txBody>
      </p:sp>
    </p:spTree>
    <p:extLst>
      <p:ext uri="{BB962C8B-B14F-4D97-AF65-F5344CB8AC3E}">
        <p14:creationId xmlns:p14="http://schemas.microsoft.com/office/powerpoint/2010/main" val="31924171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evaluation method you used: cross validation or train-test set split</a:t>
            </a:r>
          </a:p>
          <a:p>
            <a:r>
              <a:rPr lang="en-US" dirty="0"/>
              <a:t>Fill</a:t>
            </a:r>
            <a:r>
              <a:rPr lang="en-US" baseline="0" dirty="0"/>
              <a:t> out the table that will summarize your results</a:t>
            </a:r>
          </a:p>
          <a:p>
            <a:r>
              <a:rPr lang="en-US" baseline="0" dirty="0"/>
              <a:t>State which model is the best in your case. Are selected-features models they better than the baseline one?</a:t>
            </a:r>
            <a:endParaRPr lang="en-US" dirty="0"/>
          </a:p>
          <a:p>
            <a:endParaRPr lang="en-US" dirty="0"/>
          </a:p>
          <a:p>
            <a:r>
              <a:rPr lang="en-US" dirty="0"/>
              <a:t> </a:t>
            </a:r>
          </a:p>
        </p:txBody>
      </p:sp>
      <p:sp>
        <p:nvSpPr>
          <p:cNvPr id="4" name="Slide Number Placeholder 3"/>
          <p:cNvSpPr>
            <a:spLocks noGrp="1"/>
          </p:cNvSpPr>
          <p:nvPr>
            <p:ph type="sldNum" sz="quarter" idx="10"/>
          </p:nvPr>
        </p:nvSpPr>
        <p:spPr/>
        <p:txBody>
          <a:bodyPr/>
          <a:lstStyle/>
          <a:p>
            <a:fld id="{F9993D1B-F042-42D7-9CBC-5B754DED5A5C}" type="slidenum">
              <a:rPr lang="en-US" smtClean="0"/>
              <a:t>17</a:t>
            </a:fld>
            <a:endParaRPr lang="en-US"/>
          </a:p>
        </p:txBody>
      </p:sp>
    </p:spTree>
    <p:extLst>
      <p:ext uri="{BB962C8B-B14F-4D97-AF65-F5344CB8AC3E}">
        <p14:creationId xmlns:p14="http://schemas.microsoft.com/office/powerpoint/2010/main" val="24743864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a:t>
            </a:r>
            <a:r>
              <a:rPr lang="en-US" baseline="0" dirty="0"/>
              <a:t> stakeholders (managers, CEOs, other data scientists, engineers) what are your final recommendation for the company.</a:t>
            </a:r>
          </a:p>
          <a:p>
            <a:r>
              <a:rPr lang="en-US" b="1" baseline="0" dirty="0"/>
              <a:t>Again the reminder, keep bullet points, figures or tables on the slide and for any </a:t>
            </a:r>
            <a:r>
              <a:rPr lang="en-US" b="1" baseline="0"/>
              <a:t>additional explanation use </a:t>
            </a:r>
            <a:r>
              <a:rPr lang="en-US" b="1" baseline="0" dirty="0"/>
              <a:t>the notes section on each slide.</a:t>
            </a:r>
            <a:endParaRPr lang="en-US" b="1" dirty="0"/>
          </a:p>
        </p:txBody>
      </p:sp>
      <p:sp>
        <p:nvSpPr>
          <p:cNvPr id="4" name="Slide Number Placeholder 3"/>
          <p:cNvSpPr>
            <a:spLocks noGrp="1"/>
          </p:cNvSpPr>
          <p:nvPr>
            <p:ph type="sldNum" sz="quarter" idx="10"/>
          </p:nvPr>
        </p:nvSpPr>
        <p:spPr/>
        <p:txBody>
          <a:bodyPr/>
          <a:lstStyle/>
          <a:p>
            <a:fld id="{F9993D1B-F042-42D7-9CBC-5B754DED5A5C}" type="slidenum">
              <a:rPr lang="en-US" smtClean="0"/>
              <a:t>25</a:t>
            </a:fld>
            <a:endParaRPr lang="en-US"/>
          </a:p>
        </p:txBody>
      </p:sp>
    </p:spTree>
    <p:extLst>
      <p:ext uri="{BB962C8B-B14F-4D97-AF65-F5344CB8AC3E}">
        <p14:creationId xmlns:p14="http://schemas.microsoft.com/office/powerpoint/2010/main" val="26382159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a:t>
            </a:r>
            <a:r>
              <a:rPr lang="en-US" baseline="0" dirty="0"/>
              <a:t> stakeholders (managers, CEOs, other data scientists, engineers) what are your final recommendation for the company.</a:t>
            </a:r>
          </a:p>
          <a:p>
            <a:r>
              <a:rPr lang="en-US" b="1" baseline="0" dirty="0"/>
              <a:t>Again the reminder, keep bullet points, figures or tables on the slide and for any </a:t>
            </a:r>
            <a:r>
              <a:rPr lang="en-US" b="1" baseline="0"/>
              <a:t>additional explanation use </a:t>
            </a:r>
            <a:r>
              <a:rPr lang="en-US" b="1" baseline="0" dirty="0"/>
              <a:t>the notes section on each slide.</a:t>
            </a:r>
            <a:endParaRPr lang="en-US" b="1" dirty="0"/>
          </a:p>
        </p:txBody>
      </p:sp>
      <p:sp>
        <p:nvSpPr>
          <p:cNvPr id="4" name="Slide Number Placeholder 3"/>
          <p:cNvSpPr>
            <a:spLocks noGrp="1"/>
          </p:cNvSpPr>
          <p:nvPr>
            <p:ph type="sldNum" sz="quarter" idx="10"/>
          </p:nvPr>
        </p:nvSpPr>
        <p:spPr/>
        <p:txBody>
          <a:bodyPr/>
          <a:lstStyle/>
          <a:p>
            <a:fld id="{F9993D1B-F042-42D7-9CBC-5B754DED5A5C}" type="slidenum">
              <a:rPr lang="en-US" smtClean="0"/>
              <a:t>26</a:t>
            </a:fld>
            <a:endParaRPr lang="en-US"/>
          </a:p>
        </p:txBody>
      </p:sp>
    </p:spTree>
    <p:extLst>
      <p:ext uri="{BB962C8B-B14F-4D97-AF65-F5344CB8AC3E}">
        <p14:creationId xmlns:p14="http://schemas.microsoft.com/office/powerpoint/2010/main" val="34819184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4/22/2025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4/22/2025</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4/22/2025</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4/22/2025</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4/22/2025</a:t>
            </a:fld>
            <a:endParaRPr lang="en-US"/>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4/22/2025</a:t>
            </a:fld>
            <a:endParaRPr lang="en-US"/>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4/22/2025</a:t>
            </a:fld>
            <a:endParaRPr lang="en-US"/>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4/22/2025</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4/22/2025</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4/22/2025</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4/22/2025</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86200" y="640894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4/22/2025</a:t>
            </a:fld>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pic>
        <p:nvPicPr>
          <p:cNvPr id="7" name="Picture 6"/>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0" y="6274208"/>
            <a:ext cx="1653010" cy="5837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04800"/>
            <a:ext cx="7772400" cy="1470025"/>
          </a:xfrm>
        </p:spPr>
        <p:txBody>
          <a:bodyPr>
            <a:normAutofit fontScale="90000"/>
          </a:bodyPr>
          <a:lstStyle/>
          <a:p>
            <a:br>
              <a:rPr lang="en-US" dirty="0"/>
            </a:br>
            <a:br>
              <a:rPr lang="en-US" dirty="0"/>
            </a:br>
            <a:r>
              <a:rPr lang="en-US" dirty="0"/>
              <a:t> </a:t>
            </a:r>
            <a:r>
              <a:rPr lang="en-US" b="1" i="1" dirty="0"/>
              <a:t>Predicting Churn: Leveraging Machine Learning to Bolster Customer Retention </a:t>
            </a:r>
            <a:endParaRPr lang="en-US" dirty="0"/>
          </a:p>
        </p:txBody>
      </p:sp>
      <p:sp>
        <p:nvSpPr>
          <p:cNvPr id="3" name="Subtitle 2"/>
          <p:cNvSpPr>
            <a:spLocks noGrp="1"/>
          </p:cNvSpPr>
          <p:nvPr>
            <p:ph type="subTitle" idx="1"/>
          </p:nvPr>
        </p:nvSpPr>
        <p:spPr/>
        <p:txBody>
          <a:bodyPr>
            <a:normAutofit fontScale="70000" lnSpcReduction="20000"/>
          </a:bodyPr>
          <a:lstStyle/>
          <a:p>
            <a:r>
              <a:rPr lang="fi-FI" sz="3400" b="1" dirty="0">
                <a:solidFill>
                  <a:schemeClr val="tx1"/>
                </a:solidFill>
              </a:rPr>
              <a:t>Team Members:</a:t>
            </a:r>
            <a:br>
              <a:rPr lang="fi-FI" sz="3400" b="1" dirty="0">
                <a:solidFill>
                  <a:schemeClr val="tx1"/>
                </a:solidFill>
              </a:rPr>
            </a:br>
            <a:r>
              <a:rPr lang="fi-FI" dirty="0"/>
              <a:t> Henry Petrelli, henry.petrelli@torontomu.ca </a:t>
            </a:r>
          </a:p>
          <a:p>
            <a:r>
              <a:rPr lang="en-US" dirty="0"/>
              <a:t>Jocelyn John </a:t>
            </a:r>
            <a:r>
              <a:rPr lang="en-US" dirty="0" err="1"/>
              <a:t>Mascarenhas</a:t>
            </a:r>
            <a:r>
              <a:rPr lang="en-US" dirty="0"/>
              <a:t>, Jmascarenhas@torontomu.ca </a:t>
            </a:r>
          </a:p>
          <a:p>
            <a:r>
              <a:rPr lang="fi-FI" dirty="0"/>
              <a:t>Syed Ahsan Sirat, ssirat@torontomu.ca </a:t>
            </a:r>
            <a:endParaRPr lang="en-US" dirty="0"/>
          </a:p>
        </p:txBody>
      </p:sp>
    </p:spTree>
    <p:extLst>
      <p:ext uri="{BB962C8B-B14F-4D97-AF65-F5344CB8AC3E}">
        <p14:creationId xmlns:p14="http://schemas.microsoft.com/office/powerpoint/2010/main" val="29270150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lstStyle/>
          <a:p>
            <a:r>
              <a:rPr lang="en-US" sz="1050" b="1" dirty="0"/>
              <a:t>Problem Statement</a:t>
            </a:r>
            <a:br>
              <a:rPr lang="en-US" sz="1050" dirty="0"/>
            </a:br>
            <a:r>
              <a:rPr lang="en-US" sz="1050" dirty="0"/>
              <a:t>The goal of this project was to develop a predictive model to classify customer churn accurately. The dataset contained both numerical and categorical features, with an imbalanced target variable. Additionally, some columns like “Phone” and “Area Code” were irrelevant or high-cardinality, potentially introducing noise into the models. The imbalance in the churn classes made it challenging for standard models to perform well, especially in terms of recall and precision.</a:t>
            </a:r>
          </a:p>
          <a:p>
            <a:r>
              <a:rPr lang="en-US" sz="1050" b="1" dirty="0"/>
              <a:t>Our Solution</a:t>
            </a:r>
            <a:r>
              <a:rPr lang="en-US" sz="1050" dirty="0"/>
              <a:t>: To address these challenges, we followed a structured data preparation and modeling strategy: </a:t>
            </a:r>
            <a:br>
              <a:rPr lang="en-US" sz="1050" dirty="0"/>
            </a:br>
            <a:r>
              <a:rPr lang="en-US" sz="1050" dirty="0"/>
              <a:t>    </a:t>
            </a:r>
            <a:r>
              <a:rPr lang="en-US" sz="1050" u="sng" dirty="0"/>
              <a:t>Data Cleaning &amp; Encoding</a:t>
            </a:r>
            <a:r>
              <a:rPr lang="en-US" sz="1050" dirty="0"/>
              <a:t>: We encoded categorical variables such as State, Phone, Int'l Plan, </a:t>
            </a:r>
            <a:r>
              <a:rPr lang="en-US" sz="1050" dirty="0" err="1"/>
              <a:t>VMail</a:t>
            </a:r>
            <a:r>
              <a:rPr lang="en-US" sz="1050" dirty="0"/>
              <a:t> Plan, and Churn? using label encoding. Irrelevant columns like Phone and Area Code were removed to reduce noise.</a:t>
            </a:r>
            <a:br>
              <a:rPr lang="en-US" sz="1050" dirty="0"/>
            </a:br>
            <a:r>
              <a:rPr lang="en-US" sz="1050" dirty="0"/>
              <a:t>    </a:t>
            </a:r>
            <a:r>
              <a:rPr lang="en-US" sz="1050" u="sng" dirty="0"/>
              <a:t>Handling Imbalanced Data</a:t>
            </a:r>
            <a:r>
              <a:rPr lang="en-US" sz="1050" dirty="0"/>
              <a:t>: We applied SMOTE (Synthetic Minority Oversampling Technique) to resample the data, balancing the class distribution of churned vs. non-churned customers.</a:t>
            </a:r>
            <a:br>
              <a:rPr lang="en-US" sz="1050" dirty="0"/>
            </a:br>
            <a:r>
              <a:rPr lang="en-US" sz="1050" dirty="0"/>
              <a:t>    </a:t>
            </a:r>
            <a:r>
              <a:rPr lang="en-US" sz="1050" u="sng" dirty="0"/>
              <a:t>Feature Selection</a:t>
            </a:r>
            <a:r>
              <a:rPr lang="en-US" sz="1050" dirty="0"/>
              <a:t>: We used RFECV (Recursive Feature Elimination with Cross-Validation) with a Random Forest classifier to identify the most important features for classification.</a:t>
            </a:r>
            <a:br>
              <a:rPr lang="en-US" sz="1050" dirty="0"/>
            </a:br>
            <a:r>
              <a:rPr lang="en-US" sz="1050" dirty="0"/>
              <a:t>    </a:t>
            </a:r>
            <a:r>
              <a:rPr lang="en-US" sz="1050" u="sng" dirty="0"/>
              <a:t>Model Training &amp; Evaluation</a:t>
            </a:r>
            <a:r>
              <a:rPr lang="en-US" sz="1050" dirty="0"/>
              <a:t>: We implemented and compared different classification </a:t>
            </a:r>
            <a:r>
              <a:rPr lang="en-US" sz="1050" dirty="0" err="1"/>
              <a:t>models:Baseline</a:t>
            </a:r>
            <a:r>
              <a:rPr lang="en-US" sz="1050" dirty="0"/>
              <a:t> Models: Decision Tree and Naive Bayes were initially trained on the original, unfiltered data.</a:t>
            </a:r>
            <a:br>
              <a:rPr lang="en-US" sz="1050" dirty="0"/>
            </a:br>
            <a:r>
              <a:rPr lang="en-US" sz="1050" dirty="0"/>
              <a:t>    </a:t>
            </a:r>
            <a:r>
              <a:rPr lang="en-US" sz="1050" u="sng" dirty="0"/>
              <a:t>Refined Models</a:t>
            </a:r>
            <a:r>
              <a:rPr lang="en-US" sz="1050" dirty="0"/>
              <a:t>: The same models were retrained using the resampled and feature-selected data. We used 10-fold cross-validation to ensure robust evaluation, averaging the scores across all folds.</a:t>
            </a:r>
          </a:p>
          <a:p>
            <a:endParaRPr lang="en-US" sz="1050" dirty="0"/>
          </a:p>
          <a:p>
            <a:r>
              <a:rPr lang="en-US" sz="1050" b="1" dirty="0"/>
              <a:t>Highlights of the Final Results:</a:t>
            </a:r>
            <a:br>
              <a:rPr lang="en-US" sz="1050" b="1" dirty="0"/>
            </a:br>
            <a:br>
              <a:rPr lang="en-US" sz="1050" dirty="0"/>
            </a:br>
            <a:r>
              <a:rPr lang="en-US" sz="1050" dirty="0"/>
              <a:t>Decision Tree (after SMOTE + RFECV):</a:t>
            </a:r>
            <a:br>
              <a:rPr lang="en-US" sz="1050" dirty="0"/>
            </a:br>
            <a:r>
              <a:rPr lang="en-US" sz="1050" dirty="0"/>
              <a:t>    Accuracy: 0.9500, Precision: 0.8700, Recall: 0.6800, F1 Score: 0.7600</a:t>
            </a:r>
            <a:br>
              <a:rPr lang="en-US" sz="1050" dirty="0"/>
            </a:br>
            <a:r>
              <a:rPr lang="en-US" sz="1050" dirty="0"/>
              <a:t>Naive Bayes (after SMOTE + RFECV):</a:t>
            </a:r>
            <a:br>
              <a:rPr lang="en-US" sz="1050" dirty="0"/>
            </a:br>
            <a:r>
              <a:rPr lang="en-US" sz="1050" dirty="0"/>
              <a:t>    Accuracy: 0.7100, Precision: 0.7100, Recall: 0.7200, F1 Score: 0.7200</a:t>
            </a:r>
            <a:endParaRPr lang="en-US" dirty="0"/>
          </a:p>
        </p:txBody>
      </p:sp>
    </p:spTree>
    <p:extLst>
      <p:ext uri="{BB962C8B-B14F-4D97-AF65-F5344CB8AC3E}">
        <p14:creationId xmlns:p14="http://schemas.microsoft.com/office/powerpoint/2010/main" val="22045096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Workload Distribution</a:t>
            </a:r>
          </a:p>
        </p:txBody>
      </p:sp>
      <p:graphicFrame>
        <p:nvGraphicFramePr>
          <p:cNvPr id="4" name="Table 3"/>
          <p:cNvGraphicFramePr>
            <a:graphicFrameLocks noGrp="1"/>
          </p:cNvGraphicFramePr>
          <p:nvPr>
            <p:extLst>
              <p:ext uri="{D42A27DB-BD31-4B8C-83A1-F6EECF244321}">
                <p14:modId xmlns:p14="http://schemas.microsoft.com/office/powerpoint/2010/main" val="3424658215"/>
              </p:ext>
            </p:extLst>
          </p:nvPr>
        </p:nvGraphicFramePr>
        <p:xfrm>
          <a:off x="152400" y="1143000"/>
          <a:ext cx="8839200" cy="5738366"/>
        </p:xfrm>
        <a:graphic>
          <a:graphicData uri="http://schemas.openxmlformats.org/drawingml/2006/table">
            <a:tbl>
              <a:tblPr firstRow="1" firstCol="1" bandRow="1">
                <a:tableStyleId>{5940675A-B579-460E-94D1-54222C63F5DA}</a:tableStyleId>
              </a:tblPr>
              <a:tblGrid>
                <a:gridCol w="2812473">
                  <a:extLst>
                    <a:ext uri="{9D8B030D-6E8A-4147-A177-3AD203B41FA5}">
                      <a16:colId xmlns:a16="http://schemas.microsoft.com/office/drawing/2014/main" val="20000"/>
                    </a:ext>
                  </a:extLst>
                </a:gridCol>
                <a:gridCol w="6026727">
                  <a:extLst>
                    <a:ext uri="{9D8B030D-6E8A-4147-A177-3AD203B41FA5}">
                      <a16:colId xmlns:a16="http://schemas.microsoft.com/office/drawing/2014/main" val="20001"/>
                    </a:ext>
                  </a:extLst>
                </a:gridCol>
              </a:tblGrid>
              <a:tr h="249365">
                <a:tc>
                  <a:txBody>
                    <a:bodyPr/>
                    <a:lstStyle/>
                    <a:p>
                      <a:pPr marL="0" marR="0">
                        <a:lnSpc>
                          <a:spcPct val="115000"/>
                        </a:lnSpc>
                        <a:spcBef>
                          <a:spcPts val="1000"/>
                        </a:spcBef>
                        <a:spcAft>
                          <a:spcPts val="0"/>
                        </a:spcAft>
                      </a:pPr>
                      <a:r>
                        <a:rPr lang="en-US" sz="1600" dirty="0">
                          <a:effectLst/>
                        </a:rPr>
                        <a:t>Member Name</a:t>
                      </a:r>
                      <a:endParaRPr lang="en-US" sz="1600" b="1" dirty="0">
                        <a:solidFill>
                          <a:srgbClr val="4F81BD"/>
                        </a:solidFill>
                        <a:effectLst/>
                        <a:latin typeface="Calibri"/>
                        <a:ea typeface="Times New Roman"/>
                        <a:cs typeface="Times New Roman"/>
                      </a:endParaRPr>
                    </a:p>
                  </a:txBody>
                  <a:tcPr marL="68580" marR="68580" marT="0" marB="0"/>
                </a:tc>
                <a:tc>
                  <a:txBody>
                    <a:bodyPr/>
                    <a:lstStyle/>
                    <a:p>
                      <a:pPr marL="0" marR="0">
                        <a:lnSpc>
                          <a:spcPct val="115000"/>
                        </a:lnSpc>
                        <a:spcBef>
                          <a:spcPts val="1000"/>
                        </a:spcBef>
                        <a:spcAft>
                          <a:spcPts val="0"/>
                        </a:spcAft>
                      </a:pPr>
                      <a:r>
                        <a:rPr lang="en-US" sz="1600" dirty="0">
                          <a:effectLst/>
                        </a:rPr>
                        <a:t>List of Tasks Performed</a:t>
                      </a:r>
                      <a:endParaRPr lang="en-US" sz="1600" b="1" dirty="0">
                        <a:solidFill>
                          <a:srgbClr val="4F81BD"/>
                        </a:solidFill>
                        <a:effectLst/>
                        <a:latin typeface="Calibri"/>
                        <a:ea typeface="Times New Roman"/>
                        <a:cs typeface="Times New Roman"/>
                      </a:endParaRPr>
                    </a:p>
                  </a:txBody>
                  <a:tcPr marL="68580" marR="68580" marT="0" marB="0"/>
                </a:tc>
                <a:extLst>
                  <a:ext uri="{0D108BD9-81ED-4DB2-BD59-A6C34878D82A}">
                    <a16:rowId xmlns:a16="http://schemas.microsoft.com/office/drawing/2014/main" val="10000"/>
                  </a:ext>
                </a:extLst>
              </a:tr>
              <a:tr h="1152023">
                <a:tc>
                  <a:txBody>
                    <a:bodyPr/>
                    <a:lstStyle/>
                    <a:p>
                      <a:pPr algn="ctr"/>
                      <a:r>
                        <a:rPr lang="en-US" sz="1600" b="0" i="0" u="none" strike="noStrike" kern="1200" baseline="0" dirty="0">
                          <a:solidFill>
                            <a:schemeClr val="tx1"/>
                          </a:solidFill>
                          <a:latin typeface="+mn-lt"/>
                          <a:ea typeface="+mn-ea"/>
                          <a:cs typeface="+mn-cs"/>
                        </a:rPr>
                        <a:t>Jocelyn 	</a:t>
                      </a:r>
                    </a:p>
                  </a:txBody>
                  <a:tcPr marL="68580" marR="68580" marT="0" marB="0" anchor="ctr"/>
                </a:tc>
                <a:tc>
                  <a:txBody>
                    <a:bodyPr/>
                    <a:lstStyle/>
                    <a:p>
                      <a:pPr marL="285750" indent="-285750">
                        <a:buFont typeface="Arial" panose="020B0604020202020204" pitchFamily="34" charset="0"/>
                        <a:buChar char="•"/>
                      </a:pPr>
                      <a:r>
                        <a:rPr lang="en-US" sz="1600" dirty="0">
                          <a:effectLst/>
                        </a:rPr>
                        <a:t> </a:t>
                      </a:r>
                      <a:r>
                        <a:rPr lang="en-US" sz="1600" b="0" i="0" u="none" strike="noStrike" kern="1200" baseline="0" dirty="0">
                          <a:solidFill>
                            <a:schemeClr val="tx1"/>
                          </a:solidFill>
                          <a:latin typeface="+mn-lt"/>
                          <a:ea typeface="+mn-ea"/>
                          <a:cs typeface="+mn-cs"/>
                        </a:rPr>
                        <a:t>Identify and replace missing values in the dataset </a:t>
                      </a:r>
                    </a:p>
                    <a:p>
                      <a:pPr marL="285750" indent="-285750">
                        <a:buFont typeface="Arial" panose="020B0604020202020204" pitchFamily="34" charset="0"/>
                        <a:buChar char="•"/>
                      </a:pPr>
                      <a:r>
                        <a:rPr lang="en-US" sz="1600" b="0" i="0" u="none" strike="noStrike" kern="1200" baseline="0" dirty="0">
                          <a:solidFill>
                            <a:schemeClr val="tx1"/>
                          </a:solidFill>
                          <a:latin typeface="+mn-lt"/>
                          <a:ea typeface="+mn-ea"/>
                          <a:cs typeface="+mn-cs"/>
                        </a:rPr>
                        <a:t>Calculate the max, min, mean and std. deviation for each of the 21 attributes </a:t>
                      </a:r>
                    </a:p>
                    <a:p>
                      <a:pPr marL="285750" indent="-285750">
                        <a:buFont typeface="Arial" panose="020B0604020202020204" pitchFamily="34" charset="0"/>
                        <a:buChar char="•"/>
                      </a:pPr>
                      <a:r>
                        <a:rPr lang="en-US" sz="1600" b="0" i="0" u="none" strike="noStrike" kern="1200" baseline="0" dirty="0">
                          <a:solidFill>
                            <a:schemeClr val="tx1"/>
                          </a:solidFill>
                          <a:latin typeface="+mn-lt"/>
                          <a:ea typeface="+mn-ea"/>
                          <a:cs typeface="+mn-cs"/>
                        </a:rPr>
                        <a:t>Identify and account for outliers </a:t>
                      </a:r>
                    </a:p>
                    <a:p>
                      <a:pPr marL="285750" indent="-285750">
                        <a:buFont typeface="Arial" panose="020B0604020202020204" pitchFamily="34" charset="0"/>
                        <a:buChar char="•"/>
                      </a:pPr>
                      <a:r>
                        <a:rPr lang="en-US" sz="1600" b="0" i="0" u="none" strike="noStrike" kern="1200" baseline="0" dirty="0">
                          <a:solidFill>
                            <a:schemeClr val="tx1"/>
                          </a:solidFill>
                          <a:latin typeface="+mn-lt"/>
                          <a:ea typeface="+mn-ea"/>
                          <a:cs typeface="+mn-cs"/>
                        </a:rPr>
                        <a:t>Analyze the distributions of numerical attributes </a:t>
                      </a:r>
                    </a:p>
                  </a:txBody>
                  <a:tcPr marL="68580" marR="68580" marT="0" marB="0"/>
                </a:tc>
                <a:extLst>
                  <a:ext uri="{0D108BD9-81ED-4DB2-BD59-A6C34878D82A}">
                    <a16:rowId xmlns:a16="http://schemas.microsoft.com/office/drawing/2014/main" val="10001"/>
                  </a:ext>
                </a:extLst>
              </a:tr>
              <a:tr h="1612832">
                <a:tc>
                  <a:txBody>
                    <a:bodyPr/>
                    <a:lstStyle/>
                    <a:p>
                      <a:pPr algn="ctr"/>
                      <a:r>
                        <a:rPr lang="en-US" sz="1600" dirty="0">
                          <a:effectLst/>
                        </a:rPr>
                        <a:t> </a:t>
                      </a:r>
                      <a:r>
                        <a:rPr lang="en-US" sz="1600" b="0" i="0" u="none" strike="noStrike" kern="1200" baseline="0" dirty="0">
                          <a:solidFill>
                            <a:schemeClr val="tx1"/>
                          </a:solidFill>
                          <a:latin typeface="+mn-lt"/>
                          <a:ea typeface="+mn-ea"/>
                          <a:cs typeface="+mn-cs"/>
                        </a:rPr>
                        <a:t>Henry 	</a:t>
                      </a:r>
                    </a:p>
                  </a:txBody>
                  <a:tcPr marL="68580" marR="68580" marT="0" marB="0" anchor="ctr"/>
                </a:tc>
                <a:tc>
                  <a:txBody>
                    <a:bodyPr/>
                    <a:lstStyle/>
                    <a:p>
                      <a:pPr marL="285750" indent="-285750">
                        <a:buFont typeface="Arial" panose="020B0604020202020204" pitchFamily="34" charset="0"/>
                        <a:buChar char="•"/>
                      </a:pPr>
                      <a:r>
                        <a:rPr lang="en-US" sz="1600" dirty="0">
                          <a:effectLst/>
                        </a:rPr>
                        <a:t> </a:t>
                      </a:r>
                      <a:r>
                        <a:rPr lang="en-US" sz="1600" b="0" i="0" u="none" strike="noStrike" kern="1200" baseline="0" dirty="0">
                          <a:solidFill>
                            <a:schemeClr val="tx1"/>
                          </a:solidFill>
                          <a:latin typeface="+mn-lt"/>
                          <a:ea typeface="+mn-ea"/>
                          <a:cs typeface="+mn-cs"/>
                        </a:rPr>
                        <a:t>Implement a decision tree classifier and evaluate results </a:t>
                      </a:r>
                    </a:p>
                    <a:p>
                      <a:pPr marL="285750" indent="-285750">
                        <a:buFont typeface="Arial" panose="020B0604020202020204" pitchFamily="34" charset="0"/>
                        <a:buChar char="•"/>
                      </a:pPr>
                      <a:r>
                        <a:rPr lang="en-US" sz="1600" b="0" i="0" u="none" strike="noStrike" kern="1200" baseline="0" dirty="0">
                          <a:solidFill>
                            <a:schemeClr val="tx1"/>
                          </a:solidFill>
                          <a:latin typeface="+mn-lt"/>
                          <a:ea typeface="+mn-ea"/>
                          <a:cs typeface="+mn-cs"/>
                        </a:rPr>
                        <a:t>Implement a Naïve Bayes Classifier and evaluate results </a:t>
                      </a:r>
                    </a:p>
                    <a:p>
                      <a:pPr marL="285750" indent="-285750">
                        <a:buFont typeface="Arial" panose="020B0604020202020204" pitchFamily="34" charset="0"/>
                        <a:buChar char="•"/>
                      </a:pPr>
                      <a:r>
                        <a:rPr lang="en-US" sz="1600" b="0" i="0" u="none" strike="noStrike" kern="1200" baseline="0" dirty="0">
                          <a:solidFill>
                            <a:schemeClr val="tx1"/>
                          </a:solidFill>
                          <a:latin typeface="+mn-lt"/>
                          <a:ea typeface="+mn-ea"/>
                          <a:cs typeface="+mn-cs"/>
                        </a:rPr>
                        <a:t>Employ a 10-fold cross-validation data split strategy for reliable model performance measurement </a:t>
                      </a:r>
                    </a:p>
                    <a:p>
                      <a:pPr marL="285750" indent="-285750">
                        <a:buFont typeface="Arial" panose="020B0604020202020204" pitchFamily="34" charset="0"/>
                        <a:buChar char="•"/>
                      </a:pPr>
                      <a:r>
                        <a:rPr lang="en-US" sz="1600" b="0" i="0" u="none" strike="noStrike" kern="1200" baseline="0" dirty="0">
                          <a:solidFill>
                            <a:schemeClr val="tx1"/>
                          </a:solidFill>
                          <a:latin typeface="+mn-lt"/>
                          <a:ea typeface="+mn-ea"/>
                          <a:cs typeface="+mn-cs"/>
                        </a:rPr>
                        <a:t>Compare decision tree and Naïve Bayes models based on accuracy, precision, recall, and F1-score </a:t>
                      </a:r>
                    </a:p>
                    <a:p>
                      <a:pPr marL="285750" indent="-285750">
                        <a:buFont typeface="Arial" panose="020B0604020202020204" pitchFamily="34" charset="0"/>
                        <a:buChar char="•"/>
                      </a:pPr>
                      <a:r>
                        <a:rPr lang="en-US" sz="1600" b="0" i="0" u="none" strike="noStrike" kern="1200" baseline="0" dirty="0">
                          <a:solidFill>
                            <a:schemeClr val="tx1"/>
                          </a:solidFill>
                          <a:latin typeface="+mn-lt"/>
                          <a:ea typeface="+mn-ea"/>
                          <a:cs typeface="+mn-cs"/>
                        </a:rPr>
                        <a:t>Generate tables and graphs to compare model results </a:t>
                      </a:r>
                    </a:p>
                  </a:txBody>
                  <a:tcPr marL="68580" marR="68580" marT="0" marB="0"/>
                </a:tc>
                <a:extLst>
                  <a:ext uri="{0D108BD9-81ED-4DB2-BD59-A6C34878D82A}">
                    <a16:rowId xmlns:a16="http://schemas.microsoft.com/office/drawing/2014/main" val="10002"/>
                  </a:ext>
                </a:extLst>
              </a:tr>
              <a:tr h="2548380">
                <a:tc>
                  <a:txBody>
                    <a:bodyPr/>
                    <a:lstStyle/>
                    <a:p>
                      <a:pPr algn="ctr"/>
                      <a:r>
                        <a:rPr lang="en-US" sz="1600" dirty="0">
                          <a:effectLst/>
                        </a:rPr>
                        <a:t> </a:t>
                      </a:r>
                      <a:r>
                        <a:rPr lang="en-US" sz="1600" b="0" i="0" u="none" strike="noStrike" kern="1200" baseline="0" dirty="0">
                          <a:solidFill>
                            <a:schemeClr val="tx1"/>
                          </a:solidFill>
                          <a:latin typeface="+mn-lt"/>
                          <a:ea typeface="+mn-ea"/>
                          <a:cs typeface="+mn-cs"/>
                        </a:rPr>
                        <a:t>Syed 	</a:t>
                      </a:r>
                    </a:p>
                    <a:p>
                      <a:pPr marL="0" marR="0" algn="ctr">
                        <a:lnSpc>
                          <a:spcPct val="115000"/>
                        </a:lnSpc>
                        <a:spcBef>
                          <a:spcPts val="1000"/>
                        </a:spcBef>
                        <a:spcAft>
                          <a:spcPts val="0"/>
                        </a:spcAft>
                      </a:pPr>
                      <a:endParaRPr lang="en-US" sz="1600" b="1" dirty="0">
                        <a:solidFill>
                          <a:srgbClr val="4F81BD"/>
                        </a:solidFill>
                        <a:effectLst/>
                        <a:latin typeface="Calibri"/>
                        <a:ea typeface="Times New Roman"/>
                        <a:cs typeface="Times New Roman"/>
                      </a:endParaRPr>
                    </a:p>
                  </a:txBody>
                  <a:tcPr marL="68580" marR="68580" marT="0" marB="0" anchor="ctr"/>
                </a:tc>
                <a:tc>
                  <a:txBody>
                    <a:bodyPr/>
                    <a:lstStyle/>
                    <a:p>
                      <a:pPr marL="285750" indent="-285750">
                        <a:buFont typeface="Arial" panose="020B0604020202020204" pitchFamily="34" charset="0"/>
                        <a:buChar char="•"/>
                      </a:pPr>
                      <a:r>
                        <a:rPr lang="en-US" sz="1600" dirty="0">
                          <a:effectLst/>
                        </a:rPr>
                        <a:t> </a:t>
                      </a:r>
                      <a:r>
                        <a:rPr lang="en-US" sz="1600" b="0" i="0" u="none" strike="noStrike" kern="1200" baseline="0" dirty="0">
                          <a:solidFill>
                            <a:schemeClr val="tx1"/>
                          </a:solidFill>
                          <a:latin typeface="+mn-lt"/>
                          <a:ea typeface="+mn-ea"/>
                          <a:cs typeface="+mn-cs"/>
                        </a:rPr>
                        <a:t>Document and summarize findings from data preparation and predictive modeling (classification) phases </a:t>
                      </a:r>
                    </a:p>
                    <a:p>
                      <a:pPr marL="285750" indent="-285750">
                        <a:buFont typeface="Arial" panose="020B0604020202020204" pitchFamily="34" charset="0"/>
                        <a:buChar char="•"/>
                      </a:pPr>
                      <a:r>
                        <a:rPr lang="en-US" sz="1600" b="0" i="0" u="none" strike="noStrike" kern="1200" baseline="0" dirty="0">
                          <a:solidFill>
                            <a:schemeClr val="tx1"/>
                          </a:solidFill>
                          <a:latin typeface="+mn-lt"/>
                          <a:ea typeface="+mn-ea"/>
                          <a:cs typeface="+mn-cs"/>
                        </a:rPr>
                        <a:t>- Write conclusions and recommendations based off classification results </a:t>
                      </a:r>
                    </a:p>
                    <a:p>
                      <a:pPr marL="285750" indent="-285750">
                        <a:buFont typeface="Arial" panose="020B0604020202020204" pitchFamily="34" charset="0"/>
                        <a:buChar char="•"/>
                      </a:pPr>
                      <a:r>
                        <a:rPr lang="en-US" sz="1600" b="0" i="0" u="none" strike="noStrike" kern="1200" baseline="0" dirty="0">
                          <a:solidFill>
                            <a:schemeClr val="tx1"/>
                          </a:solidFill>
                          <a:latin typeface="+mn-lt"/>
                          <a:ea typeface="+mn-ea"/>
                          <a:cs typeface="+mn-cs"/>
                        </a:rPr>
                        <a:t>Implement SQL integration using SQLite (by storing the cleaned dataset and running queries to analyze customer churn) </a:t>
                      </a:r>
                    </a:p>
                    <a:p>
                      <a:pPr marL="285750" indent="-285750">
                        <a:buFont typeface="Arial" panose="020B0604020202020204" pitchFamily="34" charset="0"/>
                        <a:buChar char="•"/>
                      </a:pPr>
                      <a:r>
                        <a:rPr lang="en-US" sz="1600" b="0" i="0" u="none" strike="noStrike" kern="1200" baseline="0" dirty="0">
                          <a:solidFill>
                            <a:schemeClr val="tx1"/>
                          </a:solidFill>
                          <a:latin typeface="+mn-lt"/>
                          <a:ea typeface="+mn-ea"/>
                          <a:cs typeface="+mn-cs"/>
                        </a:rPr>
                        <a:t>Format and finalize the project report by integrating the conclusions and recommendations with tables, charts, and other forms of effective visualization </a:t>
                      </a: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0355780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Preparation</a:t>
            </a:r>
          </a:p>
        </p:txBody>
      </p:sp>
      <p:sp>
        <p:nvSpPr>
          <p:cNvPr id="5" name="TextBox 4">
            <a:extLst>
              <a:ext uri="{FF2B5EF4-FFF2-40B4-BE49-F238E27FC236}">
                <a16:creationId xmlns:a16="http://schemas.microsoft.com/office/drawing/2014/main" id="{1450E370-F5D5-4287-897F-7233AC9BF8B0}"/>
              </a:ext>
            </a:extLst>
          </p:cNvPr>
          <p:cNvSpPr txBox="1"/>
          <p:nvPr/>
        </p:nvSpPr>
        <p:spPr>
          <a:xfrm>
            <a:off x="685800" y="1447539"/>
            <a:ext cx="6705600" cy="338554"/>
          </a:xfrm>
          <a:prstGeom prst="rect">
            <a:avLst/>
          </a:prstGeom>
          <a:noFill/>
        </p:spPr>
        <p:txBody>
          <a:bodyPr wrap="square" rtlCol="0">
            <a:spAutoFit/>
          </a:bodyPr>
          <a:lstStyle/>
          <a:p>
            <a:r>
              <a:rPr lang="en-US" sz="1600" b="1" dirty="0"/>
              <a:t>During data preprocessing, the dataset underwent several crucial steps:</a:t>
            </a:r>
          </a:p>
        </p:txBody>
      </p:sp>
      <p:sp>
        <p:nvSpPr>
          <p:cNvPr id="7" name="TextBox 6">
            <a:extLst>
              <a:ext uri="{FF2B5EF4-FFF2-40B4-BE49-F238E27FC236}">
                <a16:creationId xmlns:a16="http://schemas.microsoft.com/office/drawing/2014/main" id="{C9652D6D-0838-415E-98FE-1A2C79D37253}"/>
              </a:ext>
            </a:extLst>
          </p:cNvPr>
          <p:cNvSpPr txBox="1"/>
          <p:nvPr/>
        </p:nvSpPr>
        <p:spPr>
          <a:xfrm>
            <a:off x="762000" y="1981200"/>
            <a:ext cx="7924800" cy="2800767"/>
          </a:xfrm>
          <a:prstGeom prst="rect">
            <a:avLst/>
          </a:prstGeom>
          <a:noFill/>
        </p:spPr>
        <p:txBody>
          <a:bodyPr wrap="square" rtlCol="0">
            <a:spAutoFit/>
          </a:bodyPr>
          <a:lstStyle/>
          <a:p>
            <a:pPr marL="285750" indent="-285750">
              <a:buFont typeface="Arial" panose="020B0604020202020204" pitchFamily="34" charset="0"/>
              <a:buChar char="•"/>
            </a:pPr>
            <a:r>
              <a:rPr lang="en-US" sz="1600" b="1" dirty="0"/>
              <a:t>Column Filtering</a:t>
            </a:r>
            <a:r>
              <a:rPr lang="en-US" sz="1600" dirty="0"/>
              <a:t>: Retained only relevant features for classification by excluding non-informative or redundant fields like "Phone" and "Area Code".</a:t>
            </a:r>
          </a:p>
          <a:p>
            <a:pPr marL="285750" indent="-285750">
              <a:buFont typeface="Arial" panose="020B0604020202020204" pitchFamily="34" charset="0"/>
              <a:buChar char="•"/>
            </a:pPr>
            <a:r>
              <a:rPr lang="en-US" sz="1600" b="1" dirty="0"/>
              <a:t>Categorical Encoding</a:t>
            </a:r>
            <a:r>
              <a:rPr lang="en-US" sz="1600" dirty="0"/>
              <a:t>: Converted categorical columns such as "State", "Int’l Plan", "</a:t>
            </a:r>
            <a:r>
              <a:rPr lang="en-US" sz="1600" dirty="0" err="1"/>
              <a:t>VMail</a:t>
            </a:r>
            <a:r>
              <a:rPr lang="en-US" sz="1600" dirty="0"/>
              <a:t> Plan", and "Churn?" into numerical format using Label Encoding, making them compatible with ML algorithms.</a:t>
            </a:r>
          </a:p>
          <a:p>
            <a:pPr marL="285750" indent="-285750">
              <a:buFont typeface="Arial" panose="020B0604020202020204" pitchFamily="34" charset="0"/>
              <a:buChar char="•"/>
            </a:pPr>
            <a:r>
              <a:rPr lang="en-US" sz="1600" b="1" dirty="0"/>
              <a:t>Class Imbalance Handling</a:t>
            </a:r>
            <a:r>
              <a:rPr lang="en-US" sz="1600" dirty="0"/>
              <a:t>: The target class (Churn?) was imbalanced, which could lead to biased models. To resolve this, SMOTE (Synthetic Minority Oversampling Technique) was applied to balance the dataset.</a:t>
            </a:r>
          </a:p>
          <a:p>
            <a:pPr marL="285750" indent="-285750">
              <a:buFont typeface="Arial" panose="020B0604020202020204" pitchFamily="34" charset="0"/>
              <a:buChar char="•"/>
            </a:pPr>
            <a:r>
              <a:rPr lang="en-US" sz="1600" b="1" dirty="0"/>
              <a:t>Feature Selection</a:t>
            </a:r>
            <a:r>
              <a:rPr lang="en-US" sz="1600" dirty="0"/>
              <a:t>: To avoid overfitting and improve model interpretability, Recursive Feature Elimination with Cross-Validation (RFECV) using a Random Forest classifier was used to select the most predictive features from the dataset.</a:t>
            </a:r>
          </a:p>
        </p:txBody>
      </p:sp>
      <p:sp>
        <p:nvSpPr>
          <p:cNvPr id="9" name="TextBox 8">
            <a:extLst>
              <a:ext uri="{FF2B5EF4-FFF2-40B4-BE49-F238E27FC236}">
                <a16:creationId xmlns:a16="http://schemas.microsoft.com/office/drawing/2014/main" id="{34C3EF94-59C0-400D-AC1E-BFF7E6183AF2}"/>
              </a:ext>
            </a:extLst>
          </p:cNvPr>
          <p:cNvSpPr txBox="1"/>
          <p:nvPr/>
        </p:nvSpPr>
        <p:spPr>
          <a:xfrm>
            <a:off x="762000" y="5029200"/>
            <a:ext cx="7772400" cy="646331"/>
          </a:xfrm>
          <a:prstGeom prst="rect">
            <a:avLst/>
          </a:prstGeom>
          <a:noFill/>
        </p:spPr>
        <p:txBody>
          <a:bodyPr wrap="square" rtlCol="0">
            <a:spAutoFit/>
          </a:bodyPr>
          <a:lstStyle/>
          <a:p>
            <a:r>
              <a:rPr lang="en-US" b="1" dirty="0"/>
              <a:t>Outcome</a:t>
            </a:r>
            <a:r>
              <a:rPr lang="en-US" dirty="0"/>
              <a:t>: Clean, balanced, and reduced dataset ready for efficient and accurate modeling.</a:t>
            </a:r>
          </a:p>
        </p:txBody>
      </p:sp>
    </p:spTree>
    <p:extLst>
      <p:ext uri="{BB962C8B-B14F-4D97-AF65-F5344CB8AC3E}">
        <p14:creationId xmlns:p14="http://schemas.microsoft.com/office/powerpoint/2010/main" val="18252797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0E1099D-9712-4BB3-9237-B22B3A017DA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26047" y="1600200"/>
            <a:ext cx="5891906" cy="4525963"/>
          </a:xfrm>
        </p:spPr>
      </p:pic>
      <p:sp>
        <p:nvSpPr>
          <p:cNvPr id="6" name="Title 1">
            <a:extLst>
              <a:ext uri="{FF2B5EF4-FFF2-40B4-BE49-F238E27FC236}">
                <a16:creationId xmlns:a16="http://schemas.microsoft.com/office/drawing/2014/main" id="{C6B90FD7-625A-4AB7-AA48-755CAFB3BC22}"/>
              </a:ext>
            </a:extLst>
          </p:cNvPr>
          <p:cNvSpPr>
            <a:spLocks noGrp="1"/>
          </p:cNvSpPr>
          <p:nvPr>
            <p:ph type="title"/>
          </p:nvPr>
        </p:nvSpPr>
        <p:spPr>
          <a:xfrm>
            <a:off x="457200" y="274638"/>
            <a:ext cx="8229600" cy="1143000"/>
          </a:xfrm>
        </p:spPr>
        <p:txBody>
          <a:bodyPr/>
          <a:lstStyle/>
          <a:p>
            <a:r>
              <a:rPr lang="en-US" b="1" dirty="0"/>
              <a:t>Data Attribution</a:t>
            </a:r>
            <a:endParaRPr lang="en-US" dirty="0"/>
          </a:p>
        </p:txBody>
      </p:sp>
    </p:spTree>
    <p:extLst>
      <p:ext uri="{BB962C8B-B14F-4D97-AF65-F5344CB8AC3E}">
        <p14:creationId xmlns:p14="http://schemas.microsoft.com/office/powerpoint/2010/main" val="10038096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8FC6585-4C34-4C4E-877E-96893C0B0EB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4708" y="1600200"/>
            <a:ext cx="7874583" cy="4525963"/>
          </a:xfrm>
        </p:spPr>
      </p:pic>
      <p:sp>
        <p:nvSpPr>
          <p:cNvPr id="6" name="Title 1">
            <a:extLst>
              <a:ext uri="{FF2B5EF4-FFF2-40B4-BE49-F238E27FC236}">
                <a16:creationId xmlns:a16="http://schemas.microsoft.com/office/drawing/2014/main" id="{6D4999B8-E33B-4321-8179-F2B96C716AAB}"/>
              </a:ext>
            </a:extLst>
          </p:cNvPr>
          <p:cNvSpPr>
            <a:spLocks noGrp="1"/>
          </p:cNvSpPr>
          <p:nvPr>
            <p:ph type="title"/>
          </p:nvPr>
        </p:nvSpPr>
        <p:spPr>
          <a:xfrm>
            <a:off x="457200" y="274638"/>
            <a:ext cx="8229600" cy="1143000"/>
          </a:xfrm>
        </p:spPr>
        <p:txBody>
          <a:bodyPr/>
          <a:lstStyle/>
          <a:p>
            <a:r>
              <a:rPr lang="en-US" b="1" dirty="0"/>
              <a:t>Before Running IQR Boxplot</a:t>
            </a:r>
            <a:endParaRPr lang="en-US" dirty="0"/>
          </a:p>
        </p:txBody>
      </p:sp>
    </p:spTree>
    <p:extLst>
      <p:ext uri="{BB962C8B-B14F-4D97-AF65-F5344CB8AC3E}">
        <p14:creationId xmlns:p14="http://schemas.microsoft.com/office/powerpoint/2010/main" val="19851662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9BC1B95-F4D8-4CC1-ACA6-5ECEA7425B1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72253" y="1600200"/>
            <a:ext cx="7399493" cy="4525963"/>
          </a:xfrm>
        </p:spPr>
      </p:pic>
      <p:sp>
        <p:nvSpPr>
          <p:cNvPr id="6" name="Title 1">
            <a:extLst>
              <a:ext uri="{FF2B5EF4-FFF2-40B4-BE49-F238E27FC236}">
                <a16:creationId xmlns:a16="http://schemas.microsoft.com/office/drawing/2014/main" id="{8A89BF15-6827-4C3D-99F0-7F1B840FDEDC}"/>
              </a:ext>
            </a:extLst>
          </p:cNvPr>
          <p:cNvSpPr>
            <a:spLocks noGrp="1"/>
          </p:cNvSpPr>
          <p:nvPr>
            <p:ph type="title"/>
          </p:nvPr>
        </p:nvSpPr>
        <p:spPr>
          <a:xfrm>
            <a:off x="457200" y="274638"/>
            <a:ext cx="8229600" cy="1143000"/>
          </a:xfrm>
        </p:spPr>
        <p:txBody>
          <a:bodyPr/>
          <a:lstStyle/>
          <a:p>
            <a:r>
              <a:rPr lang="en-US" b="1" dirty="0"/>
              <a:t>After Running IQR Boxplot</a:t>
            </a:r>
            <a:endParaRPr lang="en-US" dirty="0"/>
          </a:p>
        </p:txBody>
      </p:sp>
    </p:spTree>
    <p:extLst>
      <p:ext uri="{BB962C8B-B14F-4D97-AF65-F5344CB8AC3E}">
        <p14:creationId xmlns:p14="http://schemas.microsoft.com/office/powerpoint/2010/main" val="19528634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0236171-5782-448E-B244-65EE4A48AC2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98708" y="1600200"/>
            <a:ext cx="5746583" cy="4525963"/>
          </a:xfrm>
        </p:spPr>
      </p:pic>
      <p:sp>
        <p:nvSpPr>
          <p:cNvPr id="6" name="Title 1">
            <a:extLst>
              <a:ext uri="{FF2B5EF4-FFF2-40B4-BE49-F238E27FC236}">
                <a16:creationId xmlns:a16="http://schemas.microsoft.com/office/drawing/2014/main" id="{A4A796C6-A4A0-4942-8077-E406E4EF2238}"/>
              </a:ext>
            </a:extLst>
          </p:cNvPr>
          <p:cNvSpPr>
            <a:spLocks noGrp="1"/>
          </p:cNvSpPr>
          <p:nvPr>
            <p:ph type="title"/>
          </p:nvPr>
        </p:nvSpPr>
        <p:spPr>
          <a:xfrm>
            <a:off x="457200" y="274638"/>
            <a:ext cx="8229600" cy="1143000"/>
          </a:xfrm>
        </p:spPr>
        <p:txBody>
          <a:bodyPr/>
          <a:lstStyle/>
          <a:p>
            <a:r>
              <a:rPr lang="en-US" b="1" dirty="0"/>
              <a:t>Correlation Matrix</a:t>
            </a:r>
            <a:endParaRPr lang="en-US" dirty="0"/>
          </a:p>
        </p:txBody>
      </p:sp>
    </p:spTree>
    <p:extLst>
      <p:ext uri="{BB962C8B-B14F-4D97-AF65-F5344CB8AC3E}">
        <p14:creationId xmlns:p14="http://schemas.microsoft.com/office/powerpoint/2010/main" val="12626577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5A2B921-9473-4DAA-B7F3-D084EB1722A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57300" y="1662906"/>
            <a:ext cx="6629400" cy="4400550"/>
          </a:xfrm>
        </p:spPr>
      </p:pic>
      <p:sp>
        <p:nvSpPr>
          <p:cNvPr id="6" name="Title 1">
            <a:extLst>
              <a:ext uri="{FF2B5EF4-FFF2-40B4-BE49-F238E27FC236}">
                <a16:creationId xmlns:a16="http://schemas.microsoft.com/office/drawing/2014/main" id="{5C424317-14F5-4507-A5B4-C99038F9E744}"/>
              </a:ext>
            </a:extLst>
          </p:cNvPr>
          <p:cNvSpPr>
            <a:spLocks noGrp="1"/>
          </p:cNvSpPr>
          <p:nvPr>
            <p:ph type="title"/>
          </p:nvPr>
        </p:nvSpPr>
        <p:spPr>
          <a:xfrm>
            <a:off x="457200" y="274638"/>
            <a:ext cx="8229600" cy="1143000"/>
          </a:xfrm>
        </p:spPr>
        <p:txBody>
          <a:bodyPr/>
          <a:lstStyle/>
          <a:p>
            <a:r>
              <a:rPr lang="en-US" b="1" dirty="0"/>
              <a:t>Class imbalance check</a:t>
            </a:r>
            <a:endParaRPr lang="en-US" dirty="0"/>
          </a:p>
        </p:txBody>
      </p:sp>
    </p:spTree>
    <p:extLst>
      <p:ext uri="{BB962C8B-B14F-4D97-AF65-F5344CB8AC3E}">
        <p14:creationId xmlns:p14="http://schemas.microsoft.com/office/powerpoint/2010/main" val="26359954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9E8A586-6F85-42CC-B547-5EF65631BFA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43025" y="1743869"/>
            <a:ext cx="6457950" cy="4238625"/>
          </a:xfrm>
        </p:spPr>
      </p:pic>
      <p:sp>
        <p:nvSpPr>
          <p:cNvPr id="6" name="Title 1">
            <a:extLst>
              <a:ext uri="{FF2B5EF4-FFF2-40B4-BE49-F238E27FC236}">
                <a16:creationId xmlns:a16="http://schemas.microsoft.com/office/drawing/2014/main" id="{7FECB302-604A-450C-8D75-E9DD48ED8EA2}"/>
              </a:ext>
            </a:extLst>
          </p:cNvPr>
          <p:cNvSpPr>
            <a:spLocks noGrp="1"/>
          </p:cNvSpPr>
          <p:nvPr>
            <p:ph type="title"/>
          </p:nvPr>
        </p:nvSpPr>
        <p:spPr>
          <a:xfrm>
            <a:off x="457200" y="274638"/>
            <a:ext cx="8229600" cy="1143000"/>
          </a:xfrm>
        </p:spPr>
        <p:txBody>
          <a:bodyPr/>
          <a:lstStyle/>
          <a:p>
            <a:r>
              <a:rPr lang="en-US" b="1" dirty="0"/>
              <a:t>Churn status after SMOTE</a:t>
            </a:r>
            <a:endParaRPr lang="en-US" dirty="0"/>
          </a:p>
        </p:txBody>
      </p:sp>
    </p:spTree>
    <p:extLst>
      <p:ext uri="{BB962C8B-B14F-4D97-AF65-F5344CB8AC3E}">
        <p14:creationId xmlns:p14="http://schemas.microsoft.com/office/powerpoint/2010/main" val="25891786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Predictive Modeling</a:t>
            </a:r>
          </a:p>
        </p:txBody>
      </p:sp>
      <p:sp>
        <p:nvSpPr>
          <p:cNvPr id="3" name="Content Placeholder 2"/>
          <p:cNvSpPr>
            <a:spLocks noGrp="1"/>
          </p:cNvSpPr>
          <p:nvPr>
            <p:ph idx="1"/>
          </p:nvPr>
        </p:nvSpPr>
        <p:spPr/>
        <p:txBody>
          <a:bodyPr/>
          <a:lstStyle/>
          <a:p>
            <a:pPr marL="0" indent="0">
              <a:buNone/>
            </a:pPr>
            <a:r>
              <a:rPr lang="en-US" sz="1800" dirty="0"/>
              <a:t>Two types of models were evaluated:</a:t>
            </a:r>
          </a:p>
          <a:p>
            <a:pPr marL="0" indent="0">
              <a:buNone/>
            </a:pPr>
            <a:r>
              <a:rPr lang="en-US" sz="1800" b="1" dirty="0"/>
              <a:t>1. Baseline Models </a:t>
            </a:r>
            <a:r>
              <a:rPr lang="en-US" sz="1800" dirty="0"/>
              <a:t>(Before SMOTE + Feature Selection)Trained on the original, imbalanced data.</a:t>
            </a:r>
          </a:p>
        </p:txBody>
      </p:sp>
      <p:graphicFrame>
        <p:nvGraphicFramePr>
          <p:cNvPr id="4" name="Table 3"/>
          <p:cNvGraphicFramePr>
            <a:graphicFrameLocks noGrp="1"/>
          </p:cNvGraphicFramePr>
          <p:nvPr>
            <p:extLst>
              <p:ext uri="{D42A27DB-BD31-4B8C-83A1-F6EECF244321}">
                <p14:modId xmlns:p14="http://schemas.microsoft.com/office/powerpoint/2010/main" val="2963670402"/>
              </p:ext>
            </p:extLst>
          </p:nvPr>
        </p:nvGraphicFramePr>
        <p:xfrm>
          <a:off x="990600" y="3048000"/>
          <a:ext cx="7162800" cy="1651000"/>
        </p:xfrm>
        <a:graphic>
          <a:graphicData uri="http://schemas.openxmlformats.org/drawingml/2006/table">
            <a:tbl>
              <a:tblPr firstRow="1" bandRow="1">
                <a:tableStyleId>{5940675A-B579-460E-94D1-54222C63F5DA}</a:tableStyleId>
              </a:tblPr>
              <a:tblGrid>
                <a:gridCol w="1852096">
                  <a:extLst>
                    <a:ext uri="{9D8B030D-6E8A-4147-A177-3AD203B41FA5}">
                      <a16:colId xmlns:a16="http://schemas.microsoft.com/office/drawing/2014/main" val="20000"/>
                    </a:ext>
                  </a:extLst>
                </a:gridCol>
                <a:gridCol w="1208929">
                  <a:extLst>
                    <a:ext uri="{9D8B030D-6E8A-4147-A177-3AD203B41FA5}">
                      <a16:colId xmlns:a16="http://schemas.microsoft.com/office/drawing/2014/main" val="20001"/>
                    </a:ext>
                  </a:extLst>
                </a:gridCol>
                <a:gridCol w="1285631">
                  <a:extLst>
                    <a:ext uri="{9D8B030D-6E8A-4147-A177-3AD203B41FA5}">
                      <a16:colId xmlns:a16="http://schemas.microsoft.com/office/drawing/2014/main" val="20002"/>
                    </a:ext>
                  </a:extLst>
                </a:gridCol>
                <a:gridCol w="1408072">
                  <a:extLst>
                    <a:ext uri="{9D8B030D-6E8A-4147-A177-3AD203B41FA5}">
                      <a16:colId xmlns:a16="http://schemas.microsoft.com/office/drawing/2014/main" val="20003"/>
                    </a:ext>
                  </a:extLst>
                </a:gridCol>
                <a:gridCol w="1408072">
                  <a:extLst>
                    <a:ext uri="{9D8B030D-6E8A-4147-A177-3AD203B41FA5}">
                      <a16:colId xmlns:a16="http://schemas.microsoft.com/office/drawing/2014/main" val="2959084740"/>
                    </a:ext>
                  </a:extLst>
                </a:gridCol>
              </a:tblGrid>
              <a:tr h="370840">
                <a:tc>
                  <a:txBody>
                    <a:bodyPr/>
                    <a:lstStyle/>
                    <a:p>
                      <a:r>
                        <a:rPr lang="en-US" dirty="0"/>
                        <a:t>Model</a:t>
                      </a:r>
                    </a:p>
                  </a:txBody>
                  <a:tcPr/>
                </a:tc>
                <a:tc>
                  <a:txBody>
                    <a:bodyPr/>
                    <a:lstStyle/>
                    <a:p>
                      <a:r>
                        <a:rPr lang="en-US" dirty="0"/>
                        <a:t>Accuracy</a:t>
                      </a:r>
                    </a:p>
                  </a:txBody>
                  <a:tcPr/>
                </a:tc>
                <a:tc>
                  <a:txBody>
                    <a:bodyPr/>
                    <a:lstStyle/>
                    <a:p>
                      <a:r>
                        <a:rPr lang="en-US" dirty="0"/>
                        <a:t>Precision</a:t>
                      </a:r>
                    </a:p>
                  </a:txBody>
                  <a:tcPr/>
                </a:tc>
                <a:tc>
                  <a:txBody>
                    <a:bodyPr/>
                    <a:lstStyle/>
                    <a:p>
                      <a:r>
                        <a:rPr lang="en-US" dirty="0"/>
                        <a:t>Recall</a:t>
                      </a:r>
                    </a:p>
                  </a:txBody>
                  <a:tcPr/>
                </a:tc>
                <a:tc>
                  <a:txBody>
                    <a:bodyPr/>
                    <a:lstStyle/>
                    <a:p>
                      <a:r>
                        <a:rPr lang="en-US" dirty="0"/>
                        <a:t>F1 Score</a:t>
                      </a:r>
                    </a:p>
                  </a:txBody>
                  <a:tcPr/>
                </a:tc>
                <a:extLst>
                  <a:ext uri="{0D108BD9-81ED-4DB2-BD59-A6C34878D82A}">
                    <a16:rowId xmlns:a16="http://schemas.microsoft.com/office/drawing/2014/main" val="10000"/>
                  </a:ext>
                </a:extLst>
              </a:tr>
              <a:tr h="370840">
                <a:tc>
                  <a:txBody>
                    <a:bodyPr/>
                    <a:lstStyle/>
                    <a:p>
                      <a:r>
                        <a:rPr lang="en-US" dirty="0"/>
                        <a:t>Baseline decision tree</a:t>
                      </a:r>
                    </a:p>
                  </a:txBody>
                  <a:tcPr/>
                </a:tc>
                <a:tc>
                  <a:txBody>
                    <a:bodyPr/>
                    <a:lstStyle/>
                    <a:p>
                      <a:r>
                        <a:rPr lang="en-US" dirty="0"/>
                        <a:t>0.9200</a:t>
                      </a:r>
                    </a:p>
                  </a:txBody>
                  <a:tcPr anchor="ctr"/>
                </a:tc>
                <a:tc>
                  <a:txBody>
                    <a:bodyPr/>
                    <a:lstStyle/>
                    <a:p>
                      <a:r>
                        <a:rPr lang="en-US" dirty="0"/>
                        <a:t>0.6400</a:t>
                      </a:r>
                    </a:p>
                  </a:txBody>
                  <a:tcPr/>
                </a:tc>
                <a:tc>
                  <a:txBody>
                    <a:bodyPr/>
                    <a:lstStyle/>
                    <a:p>
                      <a:r>
                        <a:rPr lang="en-US" dirty="0"/>
                        <a:t>0.6800</a:t>
                      </a:r>
                    </a:p>
                  </a:txBody>
                  <a:tcPr/>
                </a:tc>
                <a:tc>
                  <a:txBody>
                    <a:bodyPr/>
                    <a:lstStyle/>
                    <a:p>
                      <a:r>
                        <a:rPr lang="en-US" dirty="0"/>
                        <a:t>0.6600</a:t>
                      </a:r>
                    </a:p>
                  </a:txBody>
                  <a:tcPr/>
                </a:tc>
                <a:extLst>
                  <a:ext uri="{0D108BD9-81ED-4DB2-BD59-A6C34878D82A}">
                    <a16:rowId xmlns:a16="http://schemas.microsoft.com/office/drawing/2014/main" val="10001"/>
                  </a:ext>
                </a:extLst>
              </a:tr>
              <a:tr h="370840">
                <a:tc>
                  <a:txBody>
                    <a:bodyPr/>
                    <a:lstStyle/>
                    <a:p>
                      <a:r>
                        <a:rPr lang="en-US" dirty="0"/>
                        <a:t>Baseline Naïve Bayes</a:t>
                      </a:r>
                    </a:p>
                  </a:txBody>
                  <a:tcPr/>
                </a:tc>
                <a:tc>
                  <a:txBody>
                    <a:bodyPr/>
                    <a:lstStyle/>
                    <a:p>
                      <a:r>
                        <a:rPr lang="en-US" dirty="0"/>
                        <a:t>0.9100</a:t>
                      </a:r>
                    </a:p>
                  </a:txBody>
                  <a:tcPr/>
                </a:tc>
                <a:tc>
                  <a:txBody>
                    <a:bodyPr/>
                    <a:lstStyle/>
                    <a:p>
                      <a:r>
                        <a:rPr lang="en-US" dirty="0"/>
                        <a:t>0.5900</a:t>
                      </a:r>
                    </a:p>
                  </a:txBody>
                  <a:tcPr/>
                </a:tc>
                <a:tc>
                  <a:txBody>
                    <a:bodyPr/>
                    <a:lstStyle/>
                    <a:p>
                      <a:r>
                        <a:rPr lang="en-US" dirty="0"/>
                        <a:t>0.6900</a:t>
                      </a:r>
                    </a:p>
                  </a:txBody>
                  <a:tcPr/>
                </a:tc>
                <a:tc>
                  <a:txBody>
                    <a:bodyPr/>
                    <a:lstStyle/>
                    <a:p>
                      <a:r>
                        <a:rPr lang="en-US" dirty="0"/>
                        <a:t>0.6300</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5142813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F13D87E-22F1-4E68-8E20-FDC07758AEC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5806" y="1600200"/>
            <a:ext cx="6712388" cy="4525963"/>
          </a:xfrm>
        </p:spPr>
      </p:pic>
      <p:sp>
        <p:nvSpPr>
          <p:cNvPr id="6" name="Title 1">
            <a:extLst>
              <a:ext uri="{FF2B5EF4-FFF2-40B4-BE49-F238E27FC236}">
                <a16:creationId xmlns:a16="http://schemas.microsoft.com/office/drawing/2014/main" id="{8C7E2CE8-C3E0-4DBE-AACD-F2401A21668F}"/>
              </a:ext>
            </a:extLst>
          </p:cNvPr>
          <p:cNvSpPr>
            <a:spLocks noGrp="1"/>
          </p:cNvSpPr>
          <p:nvPr>
            <p:ph type="title"/>
          </p:nvPr>
        </p:nvSpPr>
        <p:spPr>
          <a:xfrm>
            <a:off x="457200" y="274638"/>
            <a:ext cx="8229600" cy="1143000"/>
          </a:xfrm>
        </p:spPr>
        <p:txBody>
          <a:bodyPr>
            <a:normAutofit fontScale="90000"/>
          </a:bodyPr>
          <a:lstStyle/>
          <a:p>
            <a:r>
              <a:rPr lang="en-US" b="1" dirty="0"/>
              <a:t>Baseline Decision Tree visualization</a:t>
            </a:r>
            <a:endParaRPr lang="en-US" dirty="0"/>
          </a:p>
        </p:txBody>
      </p:sp>
    </p:spTree>
    <p:extLst>
      <p:ext uri="{BB962C8B-B14F-4D97-AF65-F5344CB8AC3E}">
        <p14:creationId xmlns:p14="http://schemas.microsoft.com/office/powerpoint/2010/main" val="24400492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01E0F6B-8F2B-4E3E-A1C9-7163472874F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90816" y="1600200"/>
            <a:ext cx="7562368" cy="4525963"/>
          </a:xfrm>
        </p:spPr>
      </p:pic>
      <p:sp>
        <p:nvSpPr>
          <p:cNvPr id="6" name="Title 1">
            <a:extLst>
              <a:ext uri="{FF2B5EF4-FFF2-40B4-BE49-F238E27FC236}">
                <a16:creationId xmlns:a16="http://schemas.microsoft.com/office/drawing/2014/main" id="{100DBDF8-A2BD-4FD1-8354-275033E35698}"/>
              </a:ext>
            </a:extLst>
          </p:cNvPr>
          <p:cNvSpPr>
            <a:spLocks noGrp="1"/>
          </p:cNvSpPr>
          <p:nvPr>
            <p:ph type="title"/>
          </p:nvPr>
        </p:nvSpPr>
        <p:spPr>
          <a:xfrm>
            <a:off x="457200" y="274638"/>
            <a:ext cx="8229600" cy="1143000"/>
          </a:xfrm>
        </p:spPr>
        <p:txBody>
          <a:bodyPr>
            <a:normAutofit fontScale="90000"/>
          </a:bodyPr>
          <a:lstStyle/>
          <a:p>
            <a:r>
              <a:rPr lang="en-US" b="1" dirty="0"/>
              <a:t>Baseline Decision Tree visualization</a:t>
            </a:r>
            <a:endParaRPr lang="en-US" dirty="0"/>
          </a:p>
        </p:txBody>
      </p:sp>
    </p:spTree>
    <p:extLst>
      <p:ext uri="{BB962C8B-B14F-4D97-AF65-F5344CB8AC3E}">
        <p14:creationId xmlns:p14="http://schemas.microsoft.com/office/powerpoint/2010/main" val="16223493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A9229A1-170E-4A0A-BA04-3AF00E29A1E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913154"/>
            <a:ext cx="8229600" cy="3900054"/>
          </a:xfrm>
        </p:spPr>
      </p:pic>
      <p:sp>
        <p:nvSpPr>
          <p:cNvPr id="6" name="Title 1">
            <a:extLst>
              <a:ext uri="{FF2B5EF4-FFF2-40B4-BE49-F238E27FC236}">
                <a16:creationId xmlns:a16="http://schemas.microsoft.com/office/drawing/2014/main" id="{730CDFD7-874B-43C6-839A-0A93F350E2CA}"/>
              </a:ext>
            </a:extLst>
          </p:cNvPr>
          <p:cNvSpPr>
            <a:spLocks noGrp="1"/>
          </p:cNvSpPr>
          <p:nvPr>
            <p:ph type="title"/>
          </p:nvPr>
        </p:nvSpPr>
        <p:spPr>
          <a:xfrm>
            <a:off x="457200" y="274638"/>
            <a:ext cx="8229600" cy="1143000"/>
          </a:xfrm>
        </p:spPr>
        <p:txBody>
          <a:bodyPr>
            <a:normAutofit/>
          </a:bodyPr>
          <a:lstStyle/>
          <a:p>
            <a:r>
              <a:rPr lang="en-US" b="1" dirty="0"/>
              <a:t>Baseline Naïve Bayes visualization</a:t>
            </a:r>
            <a:endParaRPr lang="en-US" dirty="0"/>
          </a:p>
        </p:txBody>
      </p:sp>
    </p:spTree>
    <p:extLst>
      <p:ext uri="{BB962C8B-B14F-4D97-AF65-F5344CB8AC3E}">
        <p14:creationId xmlns:p14="http://schemas.microsoft.com/office/powerpoint/2010/main" val="7519392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E62F5E7-8D33-4632-9594-E44189F679C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47133" y="1600200"/>
            <a:ext cx="7649734" cy="4525963"/>
          </a:xfrm>
        </p:spPr>
      </p:pic>
      <p:sp>
        <p:nvSpPr>
          <p:cNvPr id="6" name="Title 1">
            <a:extLst>
              <a:ext uri="{FF2B5EF4-FFF2-40B4-BE49-F238E27FC236}">
                <a16:creationId xmlns:a16="http://schemas.microsoft.com/office/drawing/2014/main" id="{137BB7BC-DFF2-42E7-8455-5C6E662650D7}"/>
              </a:ext>
            </a:extLst>
          </p:cNvPr>
          <p:cNvSpPr>
            <a:spLocks noGrp="1"/>
          </p:cNvSpPr>
          <p:nvPr>
            <p:ph type="title"/>
          </p:nvPr>
        </p:nvSpPr>
        <p:spPr>
          <a:xfrm>
            <a:off x="457200" y="274638"/>
            <a:ext cx="8229600" cy="1143000"/>
          </a:xfrm>
        </p:spPr>
        <p:txBody>
          <a:bodyPr>
            <a:normAutofit/>
          </a:bodyPr>
          <a:lstStyle/>
          <a:p>
            <a:r>
              <a:rPr lang="en-US" b="1" dirty="0"/>
              <a:t>Baseline Naïve Bayes visualization</a:t>
            </a:r>
            <a:endParaRPr lang="en-US" dirty="0"/>
          </a:p>
        </p:txBody>
      </p:sp>
    </p:spTree>
    <p:extLst>
      <p:ext uri="{BB962C8B-B14F-4D97-AF65-F5344CB8AC3E}">
        <p14:creationId xmlns:p14="http://schemas.microsoft.com/office/powerpoint/2010/main" val="17066877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2E829-72B6-4C01-BCC9-509BF6AF54BD}"/>
              </a:ext>
            </a:extLst>
          </p:cNvPr>
          <p:cNvSpPr>
            <a:spLocks noGrp="1"/>
          </p:cNvSpPr>
          <p:nvPr>
            <p:ph type="title"/>
          </p:nvPr>
        </p:nvSpPr>
        <p:spPr/>
        <p:txBody>
          <a:bodyPr/>
          <a:lstStyle/>
          <a:p>
            <a:r>
              <a:rPr lang="en-US" b="1" dirty="0"/>
              <a:t>Baseline Models</a:t>
            </a:r>
            <a:endParaRPr lang="en-US" dirty="0"/>
          </a:p>
        </p:txBody>
      </p:sp>
      <p:pic>
        <p:nvPicPr>
          <p:cNvPr id="5" name="Content Placeholder 4">
            <a:extLst>
              <a:ext uri="{FF2B5EF4-FFF2-40B4-BE49-F238E27FC236}">
                <a16:creationId xmlns:a16="http://schemas.microsoft.com/office/drawing/2014/main" id="{4C7329EF-D64C-485A-B5FD-B91F4BDC24F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46087" y="1600200"/>
            <a:ext cx="7251826" cy="4525963"/>
          </a:xfrm>
        </p:spPr>
      </p:pic>
    </p:spTree>
    <p:extLst>
      <p:ext uri="{BB962C8B-B14F-4D97-AF65-F5344CB8AC3E}">
        <p14:creationId xmlns:p14="http://schemas.microsoft.com/office/powerpoint/2010/main" val="14570190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Predictive Modeling</a:t>
            </a:r>
          </a:p>
        </p:txBody>
      </p:sp>
      <p:sp>
        <p:nvSpPr>
          <p:cNvPr id="3" name="Content Placeholder 2"/>
          <p:cNvSpPr>
            <a:spLocks noGrp="1"/>
          </p:cNvSpPr>
          <p:nvPr>
            <p:ph idx="1"/>
          </p:nvPr>
        </p:nvSpPr>
        <p:spPr>
          <a:xfrm>
            <a:off x="457200" y="1600200"/>
            <a:ext cx="8229600" cy="4648200"/>
          </a:xfrm>
        </p:spPr>
        <p:txBody>
          <a:bodyPr/>
          <a:lstStyle/>
          <a:p>
            <a:pPr marL="0" indent="0">
              <a:buNone/>
            </a:pPr>
            <a:r>
              <a:rPr lang="en-US" sz="1800" dirty="0"/>
              <a:t> </a:t>
            </a:r>
            <a:r>
              <a:rPr lang="en-US" sz="1800" b="1" dirty="0"/>
              <a:t>2. Filtered Models </a:t>
            </a:r>
            <a:r>
              <a:rPr lang="en-US" sz="1800" dirty="0"/>
              <a:t>(After SMOTE + RFECV)Trained on a balanced dataset using SMOTE. Used only the most important features selected via RFECV. Evaluated again with 10-fold cross-validation for consistency.</a:t>
            </a:r>
            <a:br>
              <a:rPr lang="en-US" sz="1800" dirty="0"/>
            </a:b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endParaRPr lang="en-US" sz="1800" dirty="0"/>
          </a:p>
        </p:txBody>
      </p:sp>
      <p:graphicFrame>
        <p:nvGraphicFramePr>
          <p:cNvPr id="6" name="Table 5">
            <a:extLst>
              <a:ext uri="{FF2B5EF4-FFF2-40B4-BE49-F238E27FC236}">
                <a16:creationId xmlns:a16="http://schemas.microsoft.com/office/drawing/2014/main" id="{F564B806-0820-4518-9C02-7261C766CA7E}"/>
              </a:ext>
            </a:extLst>
          </p:cNvPr>
          <p:cNvGraphicFramePr>
            <a:graphicFrameLocks noGrp="1"/>
          </p:cNvGraphicFramePr>
          <p:nvPr/>
        </p:nvGraphicFramePr>
        <p:xfrm>
          <a:off x="457200" y="3314541"/>
          <a:ext cx="8229600" cy="1097280"/>
        </p:xfrm>
        <a:graphic>
          <a:graphicData uri="http://schemas.openxmlformats.org/drawingml/2006/table">
            <a:tbl>
              <a:tblPr/>
              <a:tblGrid>
                <a:gridCol w="1645920">
                  <a:extLst>
                    <a:ext uri="{9D8B030D-6E8A-4147-A177-3AD203B41FA5}">
                      <a16:colId xmlns:a16="http://schemas.microsoft.com/office/drawing/2014/main" val="2038532839"/>
                    </a:ext>
                  </a:extLst>
                </a:gridCol>
                <a:gridCol w="1645920">
                  <a:extLst>
                    <a:ext uri="{9D8B030D-6E8A-4147-A177-3AD203B41FA5}">
                      <a16:colId xmlns:a16="http://schemas.microsoft.com/office/drawing/2014/main" val="679755508"/>
                    </a:ext>
                  </a:extLst>
                </a:gridCol>
                <a:gridCol w="1645920">
                  <a:extLst>
                    <a:ext uri="{9D8B030D-6E8A-4147-A177-3AD203B41FA5}">
                      <a16:colId xmlns:a16="http://schemas.microsoft.com/office/drawing/2014/main" val="3183013233"/>
                    </a:ext>
                  </a:extLst>
                </a:gridCol>
                <a:gridCol w="1645920">
                  <a:extLst>
                    <a:ext uri="{9D8B030D-6E8A-4147-A177-3AD203B41FA5}">
                      <a16:colId xmlns:a16="http://schemas.microsoft.com/office/drawing/2014/main" val="2494617566"/>
                    </a:ext>
                  </a:extLst>
                </a:gridCol>
                <a:gridCol w="1645920">
                  <a:extLst>
                    <a:ext uri="{9D8B030D-6E8A-4147-A177-3AD203B41FA5}">
                      <a16:colId xmlns:a16="http://schemas.microsoft.com/office/drawing/2014/main" val="2999117772"/>
                    </a:ext>
                  </a:extLst>
                </a:gridCol>
              </a:tblGrid>
              <a:tr h="0">
                <a:tc>
                  <a:txBody>
                    <a:bodyPr/>
                    <a:lstStyle/>
                    <a:p>
                      <a:r>
                        <a:rPr lang="en-US"/>
                        <a:t>Model</a:t>
                      </a:r>
                    </a:p>
                  </a:txBody>
                  <a:tcPr anchor="ctr">
                    <a:lnL>
                      <a:noFill/>
                    </a:lnL>
                    <a:lnR>
                      <a:noFill/>
                    </a:lnR>
                    <a:lnT>
                      <a:noFill/>
                    </a:lnT>
                    <a:lnB>
                      <a:noFill/>
                    </a:lnB>
                  </a:tcPr>
                </a:tc>
                <a:tc>
                  <a:txBody>
                    <a:bodyPr/>
                    <a:lstStyle/>
                    <a:p>
                      <a:r>
                        <a:rPr lang="en-US" dirty="0"/>
                        <a:t>Accuracy</a:t>
                      </a:r>
                    </a:p>
                  </a:txBody>
                  <a:tcPr anchor="ctr">
                    <a:lnL>
                      <a:noFill/>
                    </a:lnL>
                    <a:lnR>
                      <a:noFill/>
                    </a:lnR>
                    <a:lnT>
                      <a:noFill/>
                    </a:lnT>
                    <a:lnB>
                      <a:noFill/>
                    </a:lnB>
                  </a:tcPr>
                </a:tc>
                <a:tc>
                  <a:txBody>
                    <a:bodyPr/>
                    <a:lstStyle/>
                    <a:p>
                      <a:r>
                        <a:rPr lang="en-US"/>
                        <a:t>Precision</a:t>
                      </a:r>
                    </a:p>
                  </a:txBody>
                  <a:tcPr anchor="ctr">
                    <a:lnL>
                      <a:noFill/>
                    </a:lnL>
                    <a:lnR>
                      <a:noFill/>
                    </a:lnR>
                    <a:lnT>
                      <a:noFill/>
                    </a:lnT>
                    <a:lnB>
                      <a:noFill/>
                    </a:lnB>
                  </a:tcPr>
                </a:tc>
                <a:tc>
                  <a:txBody>
                    <a:bodyPr/>
                    <a:lstStyle/>
                    <a:p>
                      <a:r>
                        <a:rPr lang="en-US"/>
                        <a:t>Recall</a:t>
                      </a:r>
                    </a:p>
                  </a:txBody>
                  <a:tcPr anchor="ctr">
                    <a:lnL>
                      <a:noFill/>
                    </a:lnL>
                    <a:lnR>
                      <a:noFill/>
                    </a:lnR>
                    <a:lnT>
                      <a:noFill/>
                    </a:lnT>
                    <a:lnB>
                      <a:noFill/>
                    </a:lnB>
                  </a:tcPr>
                </a:tc>
                <a:tc>
                  <a:txBody>
                    <a:bodyPr/>
                    <a:lstStyle/>
                    <a:p>
                      <a:r>
                        <a:rPr lang="en-US"/>
                        <a:t>F1 Score</a:t>
                      </a:r>
                    </a:p>
                  </a:txBody>
                  <a:tcPr anchor="ctr">
                    <a:lnL>
                      <a:noFill/>
                    </a:lnL>
                    <a:lnR>
                      <a:noFill/>
                    </a:lnR>
                    <a:lnT>
                      <a:noFill/>
                    </a:lnT>
                    <a:lnB>
                      <a:noFill/>
                    </a:lnB>
                  </a:tcPr>
                </a:tc>
                <a:extLst>
                  <a:ext uri="{0D108BD9-81ED-4DB2-BD59-A6C34878D82A}">
                    <a16:rowId xmlns:a16="http://schemas.microsoft.com/office/drawing/2014/main" val="3495699605"/>
                  </a:ext>
                </a:extLst>
              </a:tr>
              <a:tr h="0">
                <a:tc>
                  <a:txBody>
                    <a:bodyPr/>
                    <a:lstStyle/>
                    <a:p>
                      <a:r>
                        <a:rPr lang="en-US"/>
                        <a:t>Decision Tree</a:t>
                      </a:r>
                    </a:p>
                  </a:txBody>
                  <a:tcPr anchor="ctr">
                    <a:lnL>
                      <a:noFill/>
                    </a:lnL>
                    <a:lnR>
                      <a:noFill/>
                    </a:lnR>
                    <a:lnT>
                      <a:noFill/>
                    </a:lnT>
                    <a:lnB>
                      <a:noFill/>
                    </a:lnB>
                  </a:tcPr>
                </a:tc>
                <a:tc>
                  <a:txBody>
                    <a:bodyPr/>
                    <a:lstStyle/>
                    <a:p>
                      <a:r>
                        <a:rPr lang="en-US"/>
                        <a:t>0.9500</a:t>
                      </a:r>
                    </a:p>
                  </a:txBody>
                  <a:tcPr anchor="ctr">
                    <a:lnL>
                      <a:noFill/>
                    </a:lnL>
                    <a:lnR>
                      <a:noFill/>
                    </a:lnR>
                    <a:lnT>
                      <a:noFill/>
                    </a:lnT>
                    <a:lnB>
                      <a:noFill/>
                    </a:lnB>
                  </a:tcPr>
                </a:tc>
                <a:tc>
                  <a:txBody>
                    <a:bodyPr/>
                    <a:lstStyle/>
                    <a:p>
                      <a:r>
                        <a:rPr lang="en-US"/>
                        <a:t>0.8700</a:t>
                      </a:r>
                    </a:p>
                  </a:txBody>
                  <a:tcPr anchor="ctr">
                    <a:lnL>
                      <a:noFill/>
                    </a:lnL>
                    <a:lnR>
                      <a:noFill/>
                    </a:lnR>
                    <a:lnT>
                      <a:noFill/>
                    </a:lnT>
                    <a:lnB>
                      <a:noFill/>
                    </a:lnB>
                  </a:tcPr>
                </a:tc>
                <a:tc>
                  <a:txBody>
                    <a:bodyPr/>
                    <a:lstStyle/>
                    <a:p>
                      <a:r>
                        <a:rPr lang="en-US"/>
                        <a:t>0.6800</a:t>
                      </a:r>
                    </a:p>
                  </a:txBody>
                  <a:tcPr anchor="ctr">
                    <a:lnL>
                      <a:noFill/>
                    </a:lnL>
                    <a:lnR>
                      <a:noFill/>
                    </a:lnR>
                    <a:lnT>
                      <a:noFill/>
                    </a:lnT>
                    <a:lnB>
                      <a:noFill/>
                    </a:lnB>
                  </a:tcPr>
                </a:tc>
                <a:tc>
                  <a:txBody>
                    <a:bodyPr/>
                    <a:lstStyle/>
                    <a:p>
                      <a:r>
                        <a:rPr lang="en-US"/>
                        <a:t>0.7600</a:t>
                      </a:r>
                    </a:p>
                  </a:txBody>
                  <a:tcPr anchor="ctr">
                    <a:lnL>
                      <a:noFill/>
                    </a:lnL>
                    <a:lnR>
                      <a:noFill/>
                    </a:lnR>
                    <a:lnT>
                      <a:noFill/>
                    </a:lnT>
                    <a:lnB>
                      <a:noFill/>
                    </a:lnB>
                  </a:tcPr>
                </a:tc>
                <a:extLst>
                  <a:ext uri="{0D108BD9-81ED-4DB2-BD59-A6C34878D82A}">
                    <a16:rowId xmlns:a16="http://schemas.microsoft.com/office/drawing/2014/main" val="406526161"/>
                  </a:ext>
                </a:extLst>
              </a:tr>
              <a:tr h="0">
                <a:tc>
                  <a:txBody>
                    <a:bodyPr/>
                    <a:lstStyle/>
                    <a:p>
                      <a:r>
                        <a:rPr lang="en-US"/>
                        <a:t>Naive Bayes</a:t>
                      </a:r>
                    </a:p>
                  </a:txBody>
                  <a:tcPr anchor="ctr">
                    <a:lnL>
                      <a:noFill/>
                    </a:lnL>
                    <a:lnR>
                      <a:noFill/>
                    </a:lnR>
                    <a:lnT>
                      <a:noFill/>
                    </a:lnT>
                    <a:lnB>
                      <a:noFill/>
                    </a:lnB>
                  </a:tcPr>
                </a:tc>
                <a:tc>
                  <a:txBody>
                    <a:bodyPr/>
                    <a:lstStyle/>
                    <a:p>
                      <a:r>
                        <a:rPr lang="en-US"/>
                        <a:t>0.7100</a:t>
                      </a:r>
                    </a:p>
                  </a:txBody>
                  <a:tcPr anchor="ctr">
                    <a:lnL>
                      <a:noFill/>
                    </a:lnL>
                    <a:lnR>
                      <a:noFill/>
                    </a:lnR>
                    <a:lnT>
                      <a:noFill/>
                    </a:lnT>
                    <a:lnB>
                      <a:noFill/>
                    </a:lnB>
                  </a:tcPr>
                </a:tc>
                <a:tc>
                  <a:txBody>
                    <a:bodyPr/>
                    <a:lstStyle/>
                    <a:p>
                      <a:r>
                        <a:rPr lang="en-US"/>
                        <a:t>0.7100</a:t>
                      </a:r>
                    </a:p>
                  </a:txBody>
                  <a:tcPr anchor="ctr">
                    <a:lnL>
                      <a:noFill/>
                    </a:lnL>
                    <a:lnR>
                      <a:noFill/>
                    </a:lnR>
                    <a:lnT>
                      <a:noFill/>
                    </a:lnT>
                    <a:lnB>
                      <a:noFill/>
                    </a:lnB>
                  </a:tcPr>
                </a:tc>
                <a:tc>
                  <a:txBody>
                    <a:bodyPr/>
                    <a:lstStyle/>
                    <a:p>
                      <a:r>
                        <a:rPr lang="en-US"/>
                        <a:t>0.7200</a:t>
                      </a:r>
                    </a:p>
                  </a:txBody>
                  <a:tcPr anchor="ctr">
                    <a:lnL>
                      <a:noFill/>
                    </a:lnL>
                    <a:lnR>
                      <a:noFill/>
                    </a:lnR>
                    <a:lnT>
                      <a:noFill/>
                    </a:lnT>
                    <a:lnB>
                      <a:noFill/>
                    </a:lnB>
                  </a:tcPr>
                </a:tc>
                <a:tc>
                  <a:txBody>
                    <a:bodyPr/>
                    <a:lstStyle/>
                    <a:p>
                      <a:r>
                        <a:rPr lang="en-US" dirty="0"/>
                        <a:t>0.7200</a:t>
                      </a:r>
                    </a:p>
                  </a:txBody>
                  <a:tcPr anchor="ctr">
                    <a:lnL>
                      <a:noFill/>
                    </a:lnL>
                    <a:lnR>
                      <a:noFill/>
                    </a:lnR>
                    <a:lnT>
                      <a:noFill/>
                    </a:lnT>
                    <a:lnB>
                      <a:noFill/>
                    </a:lnB>
                  </a:tcPr>
                </a:tc>
                <a:extLst>
                  <a:ext uri="{0D108BD9-81ED-4DB2-BD59-A6C34878D82A}">
                    <a16:rowId xmlns:a16="http://schemas.microsoft.com/office/drawing/2014/main" val="232321444"/>
                  </a:ext>
                </a:extLst>
              </a:tr>
            </a:tbl>
          </a:graphicData>
        </a:graphic>
      </p:graphicFrame>
    </p:spTree>
    <p:extLst>
      <p:ext uri="{BB962C8B-B14F-4D97-AF65-F5344CB8AC3E}">
        <p14:creationId xmlns:p14="http://schemas.microsoft.com/office/powerpoint/2010/main" val="2390073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71FC9-1327-44F4-84F5-F24A5ABCBF7B}"/>
              </a:ext>
            </a:extLst>
          </p:cNvPr>
          <p:cNvSpPr>
            <a:spLocks noGrp="1"/>
          </p:cNvSpPr>
          <p:nvPr>
            <p:ph type="title"/>
          </p:nvPr>
        </p:nvSpPr>
        <p:spPr/>
        <p:txBody>
          <a:bodyPr/>
          <a:lstStyle/>
          <a:p>
            <a:r>
              <a:rPr lang="en-US" b="1" dirty="0"/>
              <a:t>Filtered Models</a:t>
            </a:r>
            <a:endParaRPr lang="en-US" dirty="0"/>
          </a:p>
        </p:txBody>
      </p:sp>
    </p:spTree>
    <p:extLst>
      <p:ext uri="{BB962C8B-B14F-4D97-AF65-F5344CB8AC3E}">
        <p14:creationId xmlns:p14="http://schemas.microsoft.com/office/powerpoint/2010/main" val="9060660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B959C54-8EAA-4640-B0D0-A5F4ED2B9FC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6629" y="1600200"/>
            <a:ext cx="7610742" cy="4525963"/>
          </a:xfrm>
        </p:spPr>
      </p:pic>
    </p:spTree>
    <p:extLst>
      <p:ext uri="{BB962C8B-B14F-4D97-AF65-F5344CB8AC3E}">
        <p14:creationId xmlns:p14="http://schemas.microsoft.com/office/powerpoint/2010/main" val="19030551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78639B3-6858-4CE0-9FB3-3E33E1901A2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918938"/>
            <a:ext cx="8229600" cy="3888486"/>
          </a:xfrm>
        </p:spPr>
      </p:pic>
    </p:spTree>
    <p:extLst>
      <p:ext uri="{BB962C8B-B14F-4D97-AF65-F5344CB8AC3E}">
        <p14:creationId xmlns:p14="http://schemas.microsoft.com/office/powerpoint/2010/main" val="2220285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9FBA748-D925-4992-BD44-04FCF474575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53219" y="1600200"/>
            <a:ext cx="7637562" cy="4525963"/>
          </a:xfrm>
        </p:spPr>
      </p:pic>
    </p:spTree>
    <p:extLst>
      <p:ext uri="{BB962C8B-B14F-4D97-AF65-F5344CB8AC3E}">
        <p14:creationId xmlns:p14="http://schemas.microsoft.com/office/powerpoint/2010/main" val="15169146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2B08A6C-A1E2-4800-9C87-FF6395212BC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833726"/>
            <a:ext cx="8229600" cy="4058911"/>
          </a:xfrm>
        </p:spPr>
      </p:pic>
    </p:spTree>
    <p:extLst>
      <p:ext uri="{BB962C8B-B14F-4D97-AF65-F5344CB8AC3E}">
        <p14:creationId xmlns:p14="http://schemas.microsoft.com/office/powerpoint/2010/main" val="34221767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711F05A-3BD3-4334-8961-1907411A38B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13085" y="1600200"/>
            <a:ext cx="7517830" cy="4525963"/>
          </a:xfrm>
        </p:spPr>
      </p:pic>
    </p:spTree>
    <p:extLst>
      <p:ext uri="{BB962C8B-B14F-4D97-AF65-F5344CB8AC3E}">
        <p14:creationId xmlns:p14="http://schemas.microsoft.com/office/powerpoint/2010/main" val="16844428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FA451-7B2C-47FC-B0B5-44C05897D6A4}"/>
              </a:ext>
            </a:extLst>
          </p:cNvPr>
          <p:cNvSpPr>
            <a:spLocks noGrp="1"/>
          </p:cNvSpPr>
          <p:nvPr>
            <p:ph type="title"/>
          </p:nvPr>
        </p:nvSpPr>
        <p:spPr/>
        <p:txBody>
          <a:bodyPr/>
          <a:lstStyle/>
          <a:p>
            <a:r>
              <a:rPr lang="en-US" b="1" dirty="0"/>
              <a:t>Filtered Models</a:t>
            </a:r>
            <a:endParaRPr lang="en-US" dirty="0"/>
          </a:p>
        </p:txBody>
      </p:sp>
      <p:pic>
        <p:nvPicPr>
          <p:cNvPr id="5" name="Content Placeholder 4">
            <a:extLst>
              <a:ext uri="{FF2B5EF4-FFF2-40B4-BE49-F238E27FC236}">
                <a16:creationId xmlns:a16="http://schemas.microsoft.com/office/drawing/2014/main" id="{309B8110-DD15-4C63-9258-1B55F11C082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46087" y="1600200"/>
            <a:ext cx="7251826" cy="4525963"/>
          </a:xfrm>
        </p:spPr>
      </p:pic>
    </p:spTree>
    <p:extLst>
      <p:ext uri="{BB962C8B-B14F-4D97-AF65-F5344CB8AC3E}">
        <p14:creationId xmlns:p14="http://schemas.microsoft.com/office/powerpoint/2010/main" val="36041037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p>
        </p:txBody>
      </p:sp>
      <p:sp>
        <p:nvSpPr>
          <p:cNvPr id="3" name="Content Placeholder 2"/>
          <p:cNvSpPr>
            <a:spLocks noGrp="1"/>
          </p:cNvSpPr>
          <p:nvPr>
            <p:ph idx="1"/>
          </p:nvPr>
        </p:nvSpPr>
        <p:spPr/>
        <p:txBody>
          <a:bodyPr>
            <a:normAutofit/>
          </a:bodyPr>
          <a:lstStyle/>
          <a:p>
            <a:r>
              <a:rPr lang="en-US" sz="2000" dirty="0"/>
              <a:t>Adopt the Decision Tree model trained on SMOTE-balanced and RFECV-selected data for deployment.</a:t>
            </a:r>
          </a:p>
          <a:p>
            <a:r>
              <a:rPr lang="en-US" sz="2000" dirty="0"/>
              <a:t>Integrate explain ability tools (e.g., SHAP, feature importance plots) for stakeholder trust and better understanding of churn drivers.</a:t>
            </a:r>
          </a:p>
          <a:p>
            <a:r>
              <a:rPr lang="en-US" sz="2000" dirty="0"/>
              <a:t>Monitor real-world model performance regularly to ensure stability across time.</a:t>
            </a:r>
          </a:p>
          <a:p>
            <a:r>
              <a:rPr lang="en-US" sz="2000" dirty="0"/>
              <a:t>Explore additional classifiers such as Gradient Boosting or XG Boost for potentially better performance.</a:t>
            </a:r>
          </a:p>
          <a:p>
            <a:r>
              <a:rPr lang="en-US" sz="2000" dirty="0"/>
              <a:t>Conduct domain-specific feature engineering for deeper insights and further performance gains.</a:t>
            </a:r>
          </a:p>
        </p:txBody>
      </p:sp>
    </p:spTree>
    <p:extLst>
      <p:ext uri="{BB962C8B-B14F-4D97-AF65-F5344CB8AC3E}">
        <p14:creationId xmlns:p14="http://schemas.microsoft.com/office/powerpoint/2010/main" val="2389526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Recommendation</a:t>
            </a:r>
          </a:p>
        </p:txBody>
      </p:sp>
      <p:sp>
        <p:nvSpPr>
          <p:cNvPr id="3" name="Content Placeholder 2"/>
          <p:cNvSpPr>
            <a:spLocks noGrp="1"/>
          </p:cNvSpPr>
          <p:nvPr>
            <p:ph idx="1"/>
          </p:nvPr>
        </p:nvSpPr>
        <p:spPr/>
        <p:txBody>
          <a:bodyPr>
            <a:normAutofit/>
          </a:bodyPr>
          <a:lstStyle/>
          <a:p>
            <a:pPr>
              <a:buFont typeface="+mj-lt"/>
              <a:buAutoNum type="arabicPeriod"/>
            </a:pPr>
            <a:r>
              <a:rPr lang="en-US" sz="2000" b="1" dirty="0"/>
              <a:t>Use Decision Tree as the final classifier</a:t>
            </a:r>
            <a:r>
              <a:rPr lang="en-US" sz="2000" dirty="0"/>
              <a:t>: It provides a strong balance of performance and interpretability.</a:t>
            </a:r>
          </a:p>
          <a:p>
            <a:pPr>
              <a:buFont typeface="+mj-lt"/>
              <a:buAutoNum type="arabicPeriod"/>
            </a:pPr>
            <a:r>
              <a:rPr lang="en-US" sz="2000" b="1" dirty="0"/>
              <a:t>Deploy the model trained on SMOTE-balanced and feature-selected data</a:t>
            </a:r>
            <a:r>
              <a:rPr lang="en-US" sz="2000" dirty="0"/>
              <a:t>: This ensures better results in real-world churn prediction.</a:t>
            </a:r>
          </a:p>
          <a:p>
            <a:pPr>
              <a:buFont typeface="+mj-lt"/>
              <a:buAutoNum type="arabicPeriod"/>
            </a:pPr>
            <a:r>
              <a:rPr lang="en-US" sz="2000" b="1" dirty="0"/>
              <a:t>Incorporate model </a:t>
            </a:r>
            <a:r>
              <a:rPr lang="en-US" sz="2000" b="1" dirty="0" err="1"/>
              <a:t>explainability</a:t>
            </a:r>
            <a:r>
              <a:rPr lang="en-US" sz="2000" b="1" dirty="0"/>
              <a:t> tools</a:t>
            </a:r>
            <a:r>
              <a:rPr lang="en-US" sz="2000" dirty="0"/>
              <a:t> (like SHAP or feature importance plots) to better understand key churn indicators and support business decisions.</a:t>
            </a:r>
          </a:p>
          <a:p>
            <a:pPr>
              <a:buFont typeface="+mj-lt"/>
              <a:buAutoNum type="arabicPeriod"/>
            </a:pPr>
            <a:r>
              <a:rPr lang="en-US" sz="2000" b="1" dirty="0"/>
              <a:t>Monitor live model performance</a:t>
            </a:r>
            <a:r>
              <a:rPr lang="en-US" sz="2000" dirty="0"/>
              <a:t> regularly on incoming data to ensure metrics like precision and recall remain strong.</a:t>
            </a:r>
          </a:p>
          <a:p>
            <a:pPr>
              <a:buFont typeface="+mj-lt"/>
              <a:buAutoNum type="arabicPeriod"/>
            </a:pPr>
            <a:r>
              <a:rPr lang="en-US" sz="2000" b="1" dirty="0"/>
              <a:t>Explore additional models</a:t>
            </a:r>
            <a:r>
              <a:rPr lang="en-US" sz="2000" dirty="0"/>
              <a:t> (e.g., Gradient Boosting, </a:t>
            </a:r>
            <a:r>
              <a:rPr lang="en-US" sz="2000" dirty="0" err="1"/>
              <a:t>XGBoost</a:t>
            </a:r>
            <a:r>
              <a:rPr lang="en-US" sz="2000" dirty="0"/>
              <a:t>) for further performance enhancement.</a:t>
            </a:r>
          </a:p>
          <a:p>
            <a:pPr>
              <a:buFont typeface="+mj-lt"/>
              <a:buAutoNum type="arabicPeriod"/>
            </a:pPr>
            <a:r>
              <a:rPr lang="en-US" sz="2000" b="1" dirty="0"/>
              <a:t>Continue feature refinement</a:t>
            </a:r>
            <a:r>
              <a:rPr lang="en-US" sz="2000" dirty="0"/>
              <a:t> by exploring domain-specific features (e.g., customer engagement metrics) to boost predictive power.</a:t>
            </a:r>
          </a:p>
          <a:p>
            <a:pPr marL="0" indent="0">
              <a:buNone/>
            </a:pPr>
            <a:endParaRPr lang="en-US" sz="2000" dirty="0"/>
          </a:p>
        </p:txBody>
      </p:sp>
    </p:spTree>
    <p:extLst>
      <p:ext uri="{BB962C8B-B14F-4D97-AF65-F5344CB8AC3E}">
        <p14:creationId xmlns:p14="http://schemas.microsoft.com/office/powerpoint/2010/main" val="40536525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191</TotalTime>
  <Words>1388</Words>
  <Application>Microsoft Office PowerPoint</Application>
  <PresentationFormat>On-screen Show (4:3)</PresentationFormat>
  <Paragraphs>126</Paragraphs>
  <Slides>26</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Times New Roman</vt:lpstr>
      <vt:lpstr>Office Theme</vt:lpstr>
      <vt:lpstr>   Predicting Churn: Leveraging Machine Learning to Bolster Customer Retention </vt:lpstr>
      <vt:lpstr>Introduction</vt:lpstr>
      <vt:lpstr>Workload Distribution</vt:lpstr>
      <vt:lpstr>Data Preparation</vt:lpstr>
      <vt:lpstr>Data Attribution</vt:lpstr>
      <vt:lpstr>Before Running IQR Boxplot</vt:lpstr>
      <vt:lpstr>After Running IQR Boxplot</vt:lpstr>
      <vt:lpstr>Correlation Matrix</vt:lpstr>
      <vt:lpstr>Class imbalance check</vt:lpstr>
      <vt:lpstr>Churn status after SMOTE</vt:lpstr>
      <vt:lpstr>Predictive Modeling</vt:lpstr>
      <vt:lpstr>Baseline Decision Tree visualization</vt:lpstr>
      <vt:lpstr>Baseline Decision Tree visualization</vt:lpstr>
      <vt:lpstr>Baseline Naïve Bayes visualization</vt:lpstr>
      <vt:lpstr>Baseline Naïve Bayes visualization</vt:lpstr>
      <vt:lpstr>Baseline Models</vt:lpstr>
      <vt:lpstr>Predictive Modeling</vt:lpstr>
      <vt:lpstr>Filtered Models</vt:lpstr>
      <vt:lpstr>PowerPoint Presentation</vt:lpstr>
      <vt:lpstr>PowerPoint Presentation</vt:lpstr>
      <vt:lpstr>PowerPoint Presentation</vt:lpstr>
      <vt:lpstr>PowerPoint Presentation</vt:lpstr>
      <vt:lpstr>PowerPoint Presentation</vt:lpstr>
      <vt:lpstr>Filtered Models</vt:lpstr>
      <vt:lpstr>Conclusion</vt:lpstr>
      <vt:lpstr>Recommendation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 for</dc:title>
  <dc:creator>Syed Shariyar Murtaza</dc:creator>
  <cp:lastModifiedBy>Syed Sirat</cp:lastModifiedBy>
  <cp:revision>21</cp:revision>
  <dcterms:created xsi:type="dcterms:W3CDTF">2006-08-16T00:00:00Z</dcterms:created>
  <dcterms:modified xsi:type="dcterms:W3CDTF">2025-04-23T01:30:30Z</dcterms:modified>
</cp:coreProperties>
</file>